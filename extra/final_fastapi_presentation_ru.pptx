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282" y="7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903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первом слайде я представляю проект. Это учебный REST-сервис на FastAPI, связанный с моей предметной областью: подбором радиационно-стойких FPGA для космических миссий. В рамках защиты я покажу цель, архитектуру, основную функциональность, алгоритм подбора, демонстрацию API и результаты проверки качества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Цель проекта — создать не просто набор CRUD-операций, а небольшой сервис для прикладной инженерной задачи. Пользователь задает параметры миссии: требуемую радиационную стойкость, количество логических ячеек, лимит мощности и температуру. Сервис сравнивает эти требования с каталогом FPGA и возвращает подходящие варианты.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Основной функционал состоит из нескольких блоков. Есть регистрация и вход пользователя через токен, CRUD-операции для основных сущностей, отдельный endpoint для подбора FPGA и автоматическая документация Swagger. В демонстрации удобно показать вход, список устройств, профиль миссии и результат работы endpoint рекомендаций.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Архитектура построена модульно. В main.py создается приложение FastAPI и подключаются отдельные роутеры. Роутеры принимают HTTP-запросы, используют Pydantic-схемы для проверки данных и SQLAlchemy-модели для работы с SQLite. Безопасность вынесена в security.py, а бизнес-логика подбора — в отдельный файл recommendation.py.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модели данных есть четыре сущности: пользователи, производители, FPGA-устройства и миссии. Таблицы связаны через внешние ключи: миссия принадлежит пользователю, а устройство принадлежит производителю. Такая структура достаточна для реляционной базы и при этом остается простой для учебного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Стек был выбран с учетом требований курса и простоты демонстрации. FastAPI дает REST API и Swagger-документацию почти сразу. Pydantic отвечает за проверку данных, SQLAlchemy — за работу с реляционной базой. SQLite подходит для локального учебного проекта, потому что не требует отдельного контейнера или сервера базы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Главная бизнес-задача реализована в recommendation.py. Алгоритм не просто читает данные из базы: он отбирает устройства по ограничениям миссии и рассчитывает прозрачную оценку. В score учитываются запас по радиации, запас по логическим ячейкам, запас по мощности, температурный запас и признак space grade. В ответе также возвращаются причины, чтобы результат был объяснимым.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Для демонстрации достаточно открыть страницу /docs. На ней видно название сервиса и список endpoint. В видео можно выполнить login, авторизоваться через кнопку Authorize, посмотреть каталог FPGA и отправить запрос в endpoint рекомендаций. Этот endpoint возвращает список подходящих устройств, score и объяснение, почему устройство подходит.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 реализации важно было не только создать endpoint, но и обработать ошибки. Например, температура не должна иметь минимальное значение больше максимального. Для миссий проверяется владелец, чтобы один пользователь не получал доступ к данным другого. Тесты используют TestClient и отдельную in-memory базу, поэтому сценарии повторяемы. Pylint показывает результат 10 из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итоге был реализован полный backend-проект: база данных, REST API, авторизация, валидация, бизнес-логика, тесты и проверка качества кода. Проект демонстрирует цифровые компетенции, которые требовались в курсе: разработку API, работу с данными, безопасность, тестирование и документирование. В будущем сервис можно расширить реальными даташитами и более сложной инженерной моделью оценки.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rew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8">
            <a:extLst>
              <a:ext uri="{FF2B5EF4-FFF2-40B4-BE49-F238E27FC236}">
                <a16:creationId xmlns:a16="http://schemas.microsoft.com/office/drawing/2014/main" id="{070190D6-1B81-3DEF-FB0C-EFC3B66E8B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blue and black logo&#10;&#10;AI-generated content may be incorrect.">
            <a:extLst>
              <a:ext uri="{FF2B5EF4-FFF2-40B4-BE49-F238E27FC236}">
                <a16:creationId xmlns:a16="http://schemas.microsoft.com/office/drawing/2014/main" id="{D28BED46-0B55-4CB1-7381-8C7F420289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842" y="908678"/>
            <a:ext cx="2580353" cy="775114"/>
          </a:xfrm>
          <a:prstGeom prst="rect">
            <a:avLst/>
          </a:prstGeom>
        </p:spPr>
      </p:pic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43BC38C6-061A-F4B4-C96C-7766B24E709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601" y="1781474"/>
            <a:ext cx="1442989" cy="1442989"/>
          </a:xfrm>
          <a:prstGeom prst="rect">
            <a:avLst/>
          </a:prstGeom>
        </p:spPr>
      </p:pic>
      <p:pic>
        <p:nvPicPr>
          <p:cNvPr id="21" name="Picture 20" descr="A white bird on a black background&#10;&#10;AI-generated content may be incorrect.">
            <a:extLst>
              <a:ext uri="{FF2B5EF4-FFF2-40B4-BE49-F238E27FC236}">
                <a16:creationId xmlns:a16="http://schemas.microsoft.com/office/drawing/2014/main" id="{A2039642-EF01-BD5B-E433-0FFB43742D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528" y="3393827"/>
            <a:ext cx="1478162" cy="739081"/>
          </a:xfrm>
          <a:prstGeom prst="rect">
            <a:avLst/>
          </a:prstGeom>
        </p:spPr>
      </p:pic>
      <p:pic>
        <p:nvPicPr>
          <p:cNvPr id="22" name="Picture 21" descr="A white and black symbol">
            <a:extLst>
              <a:ext uri="{FF2B5EF4-FFF2-40B4-BE49-F238E27FC236}">
                <a16:creationId xmlns:a16="http://schemas.microsoft.com/office/drawing/2014/main" id="{F182AA13-0DCF-1596-EBAF-4D240C59CC1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015085" y="4412726"/>
            <a:ext cx="1193865" cy="1193865"/>
          </a:xfrm>
          <a:prstGeom prst="rect">
            <a:avLst/>
          </a:prstGeom>
        </p:spPr>
      </p:pic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A80D50BD-A585-1A63-BFA0-50155B141F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6151" y="745151"/>
            <a:ext cx="6531153" cy="228680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Thank you for your attention</a:t>
            </a:r>
            <a:r>
              <a:rPr lang="ru-RU" dirty="0"/>
              <a:t>!</a:t>
            </a:r>
            <a:endParaRPr lang="ru-RU" sz="3600" dirty="0"/>
          </a:p>
        </p:txBody>
      </p:sp>
      <p:pic>
        <p:nvPicPr>
          <p:cNvPr id="10" name="Рисунок 12">
            <a:extLst>
              <a:ext uri="{FF2B5EF4-FFF2-40B4-BE49-F238E27FC236}">
                <a16:creationId xmlns:a16="http://schemas.microsoft.com/office/drawing/2014/main" id="{2F918DA1-DB1C-8218-BAE1-A885DF3F79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36861" y="3699678"/>
            <a:ext cx="376428" cy="3764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A60B79-F629-45AE-B62F-6196B28C6261}"/>
              </a:ext>
            </a:extLst>
          </p:cNvPr>
          <p:cNvSpPr txBox="1"/>
          <p:nvPr userDrawn="1"/>
        </p:nvSpPr>
        <p:spPr>
          <a:xfrm>
            <a:off x="1768861" y="3658631"/>
            <a:ext cx="3627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aliasgari.rrkh@phystech.edu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4" name="Рисунок 46">
            <a:extLst>
              <a:ext uri="{FF2B5EF4-FFF2-40B4-BE49-F238E27FC236}">
                <a16:creationId xmlns:a16="http://schemas.microsoft.com/office/drawing/2014/main" id="{DC121B86-F577-7893-2481-CFBA26DE375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36861" y="4349151"/>
            <a:ext cx="432000" cy="432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1D3DF7-3A59-5BAC-DF7F-9B9AB08C650A}"/>
              </a:ext>
            </a:extLst>
          </p:cNvPr>
          <p:cNvSpPr txBox="1"/>
          <p:nvPr userDrawn="1"/>
        </p:nvSpPr>
        <p:spPr>
          <a:xfrm>
            <a:off x="1768861" y="4380485"/>
            <a:ext cx="3627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t.me/</a:t>
            </a:r>
            <a:r>
              <a:rPr lang="en-US" dirty="0" err="1">
                <a:solidFill>
                  <a:schemeClr val="bg1"/>
                </a:solidFill>
              </a:rPr>
              <a:t>reza_aliasgari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4" name="Picture 23" descr="A black cat with a white circle in the background&#10;&#10;AI-generated content may be incorrect.">
            <a:extLst>
              <a:ext uri="{FF2B5EF4-FFF2-40B4-BE49-F238E27FC236}">
                <a16:creationId xmlns:a16="http://schemas.microsoft.com/office/drawing/2014/main" id="{B6ECA8B2-0494-D379-9958-424B794DF1B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039" y="5049062"/>
            <a:ext cx="432000" cy="42260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CC1A856-3A2F-8C56-FFAA-F1A56597B26B}"/>
              </a:ext>
            </a:extLst>
          </p:cNvPr>
          <p:cNvSpPr txBox="1"/>
          <p:nvPr userDrawn="1"/>
        </p:nvSpPr>
        <p:spPr>
          <a:xfrm>
            <a:off x="1768861" y="5070415"/>
            <a:ext cx="3627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github.com/rezaaliasgarirenani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FB803DF-29A0-486E-0394-868233047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156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21/05/2026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B92491-ABFD-33ED-8789-528895CE5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156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  <a:latin typeface="+mj-lt"/>
                <a:cs typeface="+mj-cs"/>
              </a:defRPr>
            </a:lvl1pPr>
          </a:lstStyle>
          <a:p>
            <a:r>
              <a:rPr lang="en-US" dirty="0"/>
              <a:t>Moscow Institute of Physics and Technology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441DFBA-0A83-1DA7-4B26-01910ABD5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156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75000"/>
                  </a:schemeClr>
                </a:solidFill>
                <a:latin typeface="+mj-lt"/>
                <a:cs typeface="+mj-cs"/>
              </a:defRPr>
            </a:lvl1pPr>
          </a:lstStyle>
          <a:p>
            <a:fld id="{ED0E1797-E884-4941-9A2F-00201F1DA3F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A qr code with a dinosaur&#10;&#10;AI-generated content may be incorrect.">
            <a:extLst>
              <a:ext uri="{FF2B5EF4-FFF2-40B4-BE49-F238E27FC236}">
                <a16:creationId xmlns:a16="http://schemas.microsoft.com/office/drawing/2014/main" id="{451BC0C3-601D-4613-C653-FA6BC019765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462" y="3613905"/>
            <a:ext cx="1825842" cy="182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633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600287A-3E34-0F70-CA43-CF23864A0E7B}"/>
              </a:ext>
            </a:extLst>
          </p:cNvPr>
          <p:cNvGrpSpPr/>
          <p:nvPr/>
        </p:nvGrpSpPr>
        <p:grpSpPr>
          <a:xfrm>
            <a:off x="7187184" y="182880"/>
            <a:ext cx="4754880" cy="4754880"/>
            <a:chOff x="8046720" y="-365760"/>
            <a:chExt cx="4754880" cy="4754880"/>
          </a:xfrm>
        </p:grpSpPr>
        <p:sp>
          <p:nvSpPr>
            <p:cNvPr id="4" name="Oval 3"/>
            <p:cNvSpPr/>
            <p:nvPr/>
          </p:nvSpPr>
          <p:spPr>
            <a:xfrm>
              <a:off x="9646920" y="1280160"/>
              <a:ext cx="1600200" cy="1600200"/>
            </a:xfrm>
            <a:prstGeom prst="ellipse">
              <a:avLst/>
            </a:prstGeom>
            <a:noFill/>
            <a:ln w="20320">
              <a:solidFill>
                <a:srgbClr val="1B99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733B964-63E2-D691-0267-264A5E978A7F}"/>
                </a:ext>
              </a:extLst>
            </p:cNvPr>
            <p:cNvGrpSpPr/>
            <p:nvPr/>
          </p:nvGrpSpPr>
          <p:grpSpPr>
            <a:xfrm>
              <a:off x="8046720" y="-365760"/>
              <a:ext cx="4754880" cy="4754880"/>
              <a:chOff x="8046720" y="-365760"/>
              <a:chExt cx="4754880" cy="4754880"/>
            </a:xfrm>
          </p:grpSpPr>
          <p:sp>
            <p:nvSpPr>
              <p:cNvPr id="2" name="Oval 1"/>
              <p:cNvSpPr/>
              <p:nvPr/>
            </p:nvSpPr>
            <p:spPr>
              <a:xfrm>
                <a:off x="8046720" y="-365760"/>
                <a:ext cx="4754880" cy="4754880"/>
              </a:xfrm>
              <a:prstGeom prst="ellipse">
                <a:avLst/>
              </a:prstGeom>
              <a:noFill/>
              <a:ln w="20320">
                <a:solidFill>
                  <a:srgbClr val="204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" name="Oval 2"/>
              <p:cNvSpPr/>
              <p:nvPr/>
            </p:nvSpPr>
            <p:spPr>
              <a:xfrm>
                <a:off x="8869680" y="502920"/>
                <a:ext cx="3154680" cy="3154680"/>
              </a:xfrm>
              <a:prstGeom prst="ellipse">
                <a:avLst/>
              </a:prstGeom>
              <a:noFill/>
              <a:ln w="20320">
                <a:solidFill>
                  <a:srgbClr val="2C607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" name="Oval 4"/>
              <p:cNvSpPr/>
              <p:nvPr/>
            </p:nvSpPr>
            <p:spPr>
              <a:xfrm>
                <a:off x="9646920" y="1097280"/>
                <a:ext cx="109728" cy="109728"/>
              </a:xfrm>
              <a:prstGeom prst="ellipse">
                <a:avLst/>
              </a:prstGeom>
              <a:solidFill>
                <a:srgbClr val="1B998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11064240" y="2331720"/>
                <a:ext cx="109728" cy="109728"/>
              </a:xfrm>
              <a:prstGeom prst="ellipse">
                <a:avLst/>
              </a:prstGeom>
              <a:solidFill>
                <a:srgbClr val="1B998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8778240" y="2880360"/>
                <a:ext cx="109728" cy="109728"/>
              </a:xfrm>
              <a:prstGeom prst="ellipse">
                <a:avLst/>
              </a:prstGeom>
              <a:solidFill>
                <a:srgbClr val="1B998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8" name="TextBox 7"/>
          <p:cNvSpPr txBox="1"/>
          <p:nvPr/>
        </p:nvSpPr>
        <p:spPr>
          <a:xfrm>
            <a:off x="658368" y="1051560"/>
            <a:ext cx="7132320" cy="177279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800" b="1" dirty="0">
                <a:solidFill>
                  <a:srgbClr val="FFFFFF"/>
                </a:solidFill>
                <a:latin typeface="Calibri Light"/>
              </a:rPr>
              <a:t>API </a:t>
            </a:r>
            <a:r>
              <a:rPr sz="3800" b="1" dirty="0" err="1">
                <a:solidFill>
                  <a:srgbClr val="FFFFFF"/>
                </a:solidFill>
                <a:latin typeface="Calibri Light"/>
              </a:rPr>
              <a:t>подбора</a:t>
            </a:r>
            <a:endParaRPr lang="en-US" sz="3800" b="1" dirty="0">
              <a:solidFill>
                <a:srgbClr val="FFFFFF"/>
              </a:solidFill>
              <a:latin typeface="Calibri Light"/>
            </a:endParaRPr>
          </a:p>
          <a:p>
            <a:pPr algn="l"/>
            <a:r>
              <a:rPr lang="en-US" sz="3800" b="1" dirty="0">
                <a:solidFill>
                  <a:srgbClr val="FFFFFF"/>
                </a:solidFill>
                <a:latin typeface="Calibri Light"/>
              </a:rPr>
              <a:t>Radiation-resistant FPGA</a:t>
            </a:r>
            <a:r>
              <a:rPr sz="3800" b="1" dirty="0">
                <a:solidFill>
                  <a:srgbClr val="FFFFFF"/>
                </a:solidFill>
                <a:latin typeface="Calibri Light"/>
              </a:rPr>
              <a:t>
</a:t>
            </a:r>
            <a:r>
              <a:rPr lang="en-US" sz="3800" b="1" dirty="0">
                <a:solidFill>
                  <a:srgbClr val="FFFFFF"/>
                </a:solidFill>
                <a:latin typeface="Calibri Light"/>
              </a:rPr>
              <a:t>(</a:t>
            </a:r>
            <a:r>
              <a:rPr lang="ru-RU" sz="3800" b="1" dirty="0">
                <a:solidFill>
                  <a:srgbClr val="FFFFFF"/>
                </a:solidFill>
                <a:latin typeface="Calibri Light"/>
              </a:rPr>
              <a:t>Р</a:t>
            </a:r>
            <a:r>
              <a:rPr sz="3800" b="1" dirty="0" err="1">
                <a:solidFill>
                  <a:srgbClr val="FFFFFF"/>
                </a:solidFill>
                <a:latin typeface="Calibri Light"/>
              </a:rPr>
              <a:t>адиационно-стойких</a:t>
            </a:r>
            <a:r>
              <a:rPr sz="3800" b="1" dirty="0">
                <a:solidFill>
                  <a:srgbClr val="FFFFFF"/>
                </a:solidFill>
                <a:latin typeface="Calibri Light"/>
              </a:rPr>
              <a:t> </a:t>
            </a:r>
            <a:r>
              <a:rPr lang="ru-RU" sz="3800" b="1" dirty="0">
                <a:solidFill>
                  <a:srgbClr val="FFFFFF"/>
                </a:solidFill>
                <a:latin typeface="Calibri Light"/>
              </a:rPr>
              <a:t>ПЛИС</a:t>
            </a:r>
            <a:r>
              <a:rPr lang="en-US" sz="3800" b="1" dirty="0">
                <a:solidFill>
                  <a:srgbClr val="FFFFFF"/>
                </a:solidFill>
                <a:latin typeface="Calibri Light"/>
              </a:rPr>
              <a:t>)</a:t>
            </a:r>
            <a:endParaRPr sz="3800" b="1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" y="3218688"/>
            <a:ext cx="649224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0" dirty="0" err="1">
                <a:solidFill>
                  <a:srgbClr val="CCE9E8"/>
                </a:solidFill>
                <a:latin typeface="Calibri"/>
              </a:rPr>
              <a:t>Проект</a:t>
            </a:r>
            <a:r>
              <a:rPr sz="1800" b="0" dirty="0">
                <a:solidFill>
                  <a:srgbClr val="CCE9E8"/>
                </a:solidFill>
                <a:latin typeface="Calibri"/>
              </a:rPr>
              <a:t>: «</a:t>
            </a:r>
            <a:r>
              <a:rPr sz="1800" b="0" dirty="0" err="1">
                <a:solidFill>
                  <a:srgbClr val="CCE9E8"/>
                </a:solidFill>
                <a:latin typeface="Calibri"/>
              </a:rPr>
              <a:t>Разработка</a:t>
            </a:r>
            <a:r>
              <a:rPr sz="1800" b="0" dirty="0">
                <a:solidFill>
                  <a:srgbClr val="CCE9E8"/>
                </a:solidFill>
                <a:latin typeface="Calibri"/>
              </a:rPr>
              <a:t> Web-</a:t>
            </a:r>
            <a:r>
              <a:rPr sz="1800" b="0" dirty="0" err="1">
                <a:solidFill>
                  <a:srgbClr val="CCE9E8"/>
                </a:solidFill>
                <a:latin typeface="Calibri"/>
              </a:rPr>
              <a:t>приложения</a:t>
            </a:r>
            <a:r>
              <a:rPr sz="1800" b="0" dirty="0">
                <a:solidFill>
                  <a:srgbClr val="CCE9E8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CCE9E8"/>
                </a:solidFill>
                <a:latin typeface="Calibri"/>
              </a:rPr>
              <a:t>на</a:t>
            </a:r>
            <a:r>
              <a:rPr sz="1800" b="0" dirty="0">
                <a:solidFill>
                  <a:srgbClr val="CCE9E8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CCE9E8"/>
                </a:solidFill>
                <a:latin typeface="Calibri"/>
              </a:rPr>
              <a:t>FastAPI</a:t>
            </a:r>
            <a:r>
              <a:rPr sz="1800" b="0" dirty="0">
                <a:solidFill>
                  <a:srgbClr val="CCE9E8"/>
                </a:solidFill>
                <a:latin typeface="Calibri"/>
              </a:rPr>
              <a:t>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74920"/>
            <a:ext cx="5303520" cy="7879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0" dirty="0">
                <a:solidFill>
                  <a:srgbClr val="E2E8F0"/>
                </a:solidFill>
                <a:latin typeface="Calibri"/>
              </a:rPr>
              <a:t>ФИО: </a:t>
            </a:r>
            <a:r>
              <a:rPr lang="ru-RU" sz="2000" b="0" dirty="0">
                <a:solidFill>
                  <a:srgbClr val="E2E8F0"/>
                </a:solidFill>
                <a:latin typeface="Calibri"/>
              </a:rPr>
              <a:t>Алиасгари Ренани Реза</a:t>
            </a:r>
            <a:endParaRPr lang="en-US" sz="2000" b="0" dirty="0">
              <a:solidFill>
                <a:srgbClr val="E2E8F0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E2E8F0"/>
                </a:solidFill>
                <a:latin typeface="Calibri"/>
              </a:rPr>
              <a:t>
</a:t>
            </a:r>
            <a:r>
              <a:rPr sz="1500" b="0" dirty="0" err="1">
                <a:solidFill>
                  <a:srgbClr val="E2E8F0"/>
                </a:solidFill>
                <a:latin typeface="Calibri"/>
              </a:rPr>
              <a:t>Курс</a:t>
            </a:r>
            <a:r>
              <a:rPr sz="1500" b="0" dirty="0">
                <a:solidFill>
                  <a:srgbClr val="E2E8F0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E2E8F0"/>
                </a:solidFill>
                <a:latin typeface="Calibri"/>
              </a:rPr>
              <a:t>Программирование</a:t>
            </a:r>
            <a:r>
              <a:rPr sz="1500" b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Calibri"/>
              </a:rPr>
              <a:t>на</a:t>
            </a:r>
            <a:r>
              <a:rPr sz="1500" b="0" dirty="0">
                <a:solidFill>
                  <a:srgbClr val="E2E8F0"/>
                </a:solidFill>
                <a:latin typeface="Calibri"/>
              </a:rPr>
              <a:t>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080760"/>
            <a:ext cx="52120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AABECD"/>
                </a:solidFill>
                <a:latin typeface="Calibri"/>
              </a:rPr>
              <a:t>Итоговая аттестация Цифровой кафедры МФТИ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5463540"/>
            <a:ext cx="960120" cy="347472"/>
          </a:xfrm>
          <a:prstGeom prst="roundRect">
            <a:avLst>
              <a:gd name="adj" fmla="val 1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5532120"/>
            <a:ext cx="86868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08008" y="5463540"/>
            <a:ext cx="914400" cy="347472"/>
          </a:xfrm>
          <a:prstGeom prst="roundRect">
            <a:avLst>
              <a:gd name="adj" fmla="val 18000"/>
            </a:avLst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53728" y="5532120"/>
            <a:ext cx="822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68712" y="5463540"/>
            <a:ext cx="658368" cy="347472"/>
          </a:xfrm>
          <a:prstGeom prst="roundRect">
            <a:avLst>
              <a:gd name="adj" fmla="val 18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14432" y="5532120"/>
            <a:ext cx="566928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JWT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1F421A-52DF-0EE9-3342-7D67F3BDD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601223"/>
            <a:ext cx="1432265" cy="141120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501F3BE-96B8-E22E-8A44-93DD2F93B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028" y="3308817"/>
            <a:ext cx="3974592" cy="1775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Calibri Light"/>
              </a:rPr>
              <a:t>Цель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97840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dirty="0" err="1">
                <a:solidFill>
                  <a:srgbClr val="52616B"/>
                </a:solidFill>
                <a:latin typeface="Calibri"/>
              </a:rPr>
              <a:t>Задача</a:t>
            </a:r>
            <a:r>
              <a:rPr sz="1400" b="0" dirty="0">
                <a:solidFill>
                  <a:srgbClr val="52616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2616B"/>
                </a:solidFill>
                <a:latin typeface="Calibri"/>
              </a:rPr>
              <a:t>сервиса</a:t>
            </a:r>
            <a:r>
              <a:rPr sz="1400" b="0" dirty="0">
                <a:solidFill>
                  <a:srgbClr val="52616B"/>
                </a:solidFill>
                <a:latin typeface="Calibri"/>
              </a:rPr>
              <a:t> — </a:t>
            </a:r>
            <a:r>
              <a:rPr sz="1400" b="0" dirty="0" err="1">
                <a:solidFill>
                  <a:srgbClr val="52616B"/>
                </a:solidFill>
                <a:latin typeface="Calibri"/>
              </a:rPr>
              <a:t>связать</a:t>
            </a:r>
            <a:r>
              <a:rPr sz="1400" b="0" dirty="0">
                <a:solidFill>
                  <a:srgbClr val="52616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2616B"/>
                </a:solidFill>
                <a:latin typeface="Calibri"/>
              </a:rPr>
              <a:t>требования</a:t>
            </a:r>
            <a:r>
              <a:rPr sz="1400" b="0" dirty="0">
                <a:solidFill>
                  <a:srgbClr val="52616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2616B"/>
                </a:solidFill>
                <a:latin typeface="Calibri"/>
              </a:rPr>
              <a:t>космической</a:t>
            </a:r>
            <a:r>
              <a:rPr sz="1400" b="0" dirty="0">
                <a:solidFill>
                  <a:srgbClr val="52616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2616B"/>
                </a:solidFill>
                <a:latin typeface="Calibri"/>
              </a:rPr>
              <a:t>миссии</a:t>
            </a:r>
            <a:r>
              <a:rPr sz="1400" b="0" dirty="0">
                <a:solidFill>
                  <a:srgbClr val="52616B"/>
                </a:solidFill>
                <a:latin typeface="Calibri"/>
              </a:rPr>
              <a:t> с </a:t>
            </a:r>
            <a:r>
              <a:rPr sz="1400" b="0" dirty="0" err="1">
                <a:solidFill>
                  <a:srgbClr val="52616B"/>
                </a:solidFill>
                <a:latin typeface="Calibri"/>
              </a:rPr>
              <a:t>подходящими</a:t>
            </a:r>
            <a:r>
              <a:rPr sz="1400" b="0" dirty="0">
                <a:solidFill>
                  <a:srgbClr val="52616B"/>
                </a:solidFill>
                <a:latin typeface="Calibri"/>
              </a:rPr>
              <a:t> FPGA-</a:t>
            </a:r>
            <a:r>
              <a:rPr sz="1400" b="0" dirty="0" err="1">
                <a:solidFill>
                  <a:srgbClr val="52616B"/>
                </a:solidFill>
                <a:latin typeface="Calibri"/>
              </a:rPr>
              <a:t>компонентами</a:t>
            </a:r>
            <a:endParaRPr sz="1400" b="0" dirty="0">
              <a:solidFill>
                <a:srgbClr val="52616B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1143000" cy="3657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228600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Calibri"/>
              </a:rPr>
              <a:t>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8" y="2066255"/>
            <a:ext cx="4956048" cy="28961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sz="1700" b="0" dirty="0" err="1">
                <a:solidFill>
                  <a:srgbClr val="1A2330"/>
                </a:solidFill>
              </a:rPr>
              <a:t>Для</a:t>
            </a:r>
            <a:r>
              <a:rPr sz="1700" b="0" dirty="0">
                <a:solidFill>
                  <a:srgbClr val="1A2330"/>
                </a:solidFill>
              </a:rPr>
              <a:t> </a:t>
            </a:r>
            <a:r>
              <a:rPr sz="1700" b="0" dirty="0" err="1">
                <a:solidFill>
                  <a:srgbClr val="1A2330"/>
                </a:solidFill>
              </a:rPr>
              <a:t>космических</a:t>
            </a:r>
            <a:r>
              <a:rPr sz="1700" b="0" dirty="0">
                <a:solidFill>
                  <a:srgbClr val="1A2330"/>
                </a:solidFill>
              </a:rPr>
              <a:t> </a:t>
            </a:r>
            <a:r>
              <a:rPr sz="1700" b="0" dirty="0" err="1">
                <a:solidFill>
                  <a:srgbClr val="1A2330"/>
                </a:solidFill>
              </a:rPr>
              <a:t>систем</a:t>
            </a:r>
            <a:r>
              <a:rPr sz="1700" b="0" dirty="0">
                <a:solidFill>
                  <a:srgbClr val="1A2330"/>
                </a:solidFill>
              </a:rPr>
              <a:t> </a:t>
            </a:r>
            <a:r>
              <a:rPr sz="1700" b="0" dirty="0" err="1">
                <a:solidFill>
                  <a:srgbClr val="1A2330"/>
                </a:solidFill>
              </a:rPr>
              <a:t>важны</a:t>
            </a:r>
            <a:r>
              <a:rPr sz="1700" b="0" dirty="0">
                <a:solidFill>
                  <a:srgbClr val="1A2330"/>
                </a:solidFill>
              </a:rPr>
              <a:t> </a:t>
            </a:r>
            <a:r>
              <a:rPr sz="1700" b="0" dirty="0" err="1">
                <a:solidFill>
                  <a:srgbClr val="1A2330"/>
                </a:solidFill>
              </a:rPr>
              <a:t>стойкость</a:t>
            </a:r>
            <a:r>
              <a:rPr sz="1700" b="0" dirty="0">
                <a:solidFill>
                  <a:srgbClr val="1A2330"/>
                </a:solidFill>
              </a:rPr>
              <a:t> к </a:t>
            </a:r>
            <a:r>
              <a:rPr sz="1700" b="0" dirty="0" err="1">
                <a:solidFill>
                  <a:srgbClr val="1A2330"/>
                </a:solidFill>
              </a:rPr>
              <a:t>радиации</a:t>
            </a:r>
            <a:r>
              <a:rPr sz="1700" b="0" dirty="0">
                <a:solidFill>
                  <a:srgbClr val="1A2330"/>
                </a:solidFill>
              </a:rPr>
              <a:t>, </a:t>
            </a:r>
            <a:r>
              <a:rPr sz="1700" b="0" dirty="0" err="1">
                <a:solidFill>
                  <a:srgbClr val="1A2330"/>
                </a:solidFill>
              </a:rPr>
              <a:t>энергопотребление</a:t>
            </a:r>
            <a:r>
              <a:rPr sz="1700" b="0" dirty="0">
                <a:solidFill>
                  <a:srgbClr val="1A2330"/>
                </a:solidFill>
              </a:rPr>
              <a:t> и </a:t>
            </a:r>
            <a:r>
              <a:rPr sz="1700" b="0" dirty="0" err="1">
                <a:solidFill>
                  <a:srgbClr val="1A2330"/>
                </a:solidFill>
              </a:rPr>
              <a:t>температурный</a:t>
            </a:r>
            <a:r>
              <a:rPr sz="1700" b="0" dirty="0">
                <a:solidFill>
                  <a:srgbClr val="1A2330"/>
                </a:solidFill>
              </a:rPr>
              <a:t> </a:t>
            </a:r>
            <a:r>
              <a:rPr sz="1700" b="0" dirty="0" err="1">
                <a:solidFill>
                  <a:srgbClr val="1A2330"/>
                </a:solidFill>
              </a:rPr>
              <a:t>ди</a:t>
            </a:r>
            <a:r>
              <a:rPr lang="ru-RU" sz="1700" b="0" dirty="0">
                <a:solidFill>
                  <a:srgbClr val="1A2330"/>
                </a:solidFill>
              </a:rPr>
              <a:t>а</a:t>
            </a:r>
            <a:r>
              <a:rPr sz="1700" b="0" dirty="0" err="1">
                <a:solidFill>
                  <a:srgbClr val="1A2330"/>
                </a:solidFill>
              </a:rPr>
              <a:t>пазон</a:t>
            </a:r>
            <a:r>
              <a:rPr sz="1700" b="0" dirty="0">
                <a:solidFill>
                  <a:srgbClr val="1A2330"/>
                </a:solidFill>
              </a:rPr>
              <a:t>.</a:t>
            </a:r>
            <a:br>
              <a:rPr lang="en-US" sz="1700" b="0" dirty="0">
                <a:solidFill>
                  <a:srgbClr val="1A2330"/>
                </a:solidFill>
              </a:rPr>
            </a:br>
            <a:endParaRPr lang="en-US" sz="1700" b="0" dirty="0">
              <a:solidFill>
                <a:srgbClr val="1A233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700" dirty="0">
                <a:solidFill>
                  <a:srgbClr val="1A2330"/>
                </a:solidFill>
              </a:rPr>
              <a:t>Ручной выбор FPGA требует сравнения нескольких параметров и легко приводит к ошибкам.</a:t>
            </a:r>
            <a:br>
              <a:rPr lang="en-US" sz="1700" dirty="0">
                <a:solidFill>
                  <a:srgbClr val="1A2330"/>
                </a:solidFill>
              </a:rPr>
            </a:br>
            <a:endParaRPr lang="en-US" sz="1700" dirty="0">
              <a:solidFill>
                <a:srgbClr val="1A233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700" dirty="0">
                <a:solidFill>
                  <a:srgbClr val="1A2330"/>
                </a:solidFill>
              </a:rPr>
              <a:t>Проект демонстрирует, как backend-сервис может формализовать этот выбор.</a:t>
            </a:r>
          </a:p>
          <a:p>
            <a:endParaRPr lang="ru-RU" sz="1700" dirty="0">
              <a:solidFill>
                <a:srgbClr val="1A233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897880" y="1920240"/>
            <a:ext cx="1325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0176" y="2148840"/>
            <a:ext cx="1161288" cy="54168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700" b="1" dirty="0" err="1">
                <a:solidFill>
                  <a:srgbClr val="2463EB"/>
                </a:solidFill>
                <a:latin typeface="Calibri"/>
              </a:rPr>
              <a:t>Требования</a:t>
            </a:r>
            <a:r>
              <a:rPr sz="1700" b="1" dirty="0">
                <a:solidFill>
                  <a:srgbClr val="2463EB"/>
                </a:solidFill>
                <a:latin typeface="Calibri"/>
              </a:rPr>
              <a:t>
</a:t>
            </a:r>
            <a:r>
              <a:rPr sz="1700" b="1" dirty="0" err="1">
                <a:solidFill>
                  <a:srgbClr val="2463EB"/>
                </a:solidFill>
                <a:latin typeface="Calibri"/>
              </a:rPr>
              <a:t>миссии</a:t>
            </a:r>
            <a:endParaRPr sz="1700" b="1" dirty="0">
              <a:solidFill>
                <a:srgbClr val="2463EB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26679" y="1920240"/>
            <a:ext cx="1325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08975" y="2148840"/>
            <a:ext cx="1161288" cy="54168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700" b="1" dirty="0" err="1">
                <a:solidFill>
                  <a:srgbClr val="1B998B"/>
                </a:solidFill>
                <a:latin typeface="Calibri"/>
              </a:rPr>
              <a:t>Каталог</a:t>
            </a:r>
            <a:r>
              <a:rPr sz="1700" b="1" dirty="0">
                <a:solidFill>
                  <a:srgbClr val="1B998B"/>
                </a:solidFill>
                <a:latin typeface="Calibri"/>
              </a:rPr>
              <a:t>
FPGA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1920240"/>
            <a:ext cx="1737360" cy="1005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37776" y="2148841"/>
            <a:ext cx="1525524" cy="54168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700" b="1" dirty="0" err="1">
                <a:solidFill>
                  <a:srgbClr val="E76F51"/>
                </a:solidFill>
                <a:latin typeface="Calibri"/>
              </a:rPr>
              <a:t>Рекомендация</a:t>
            </a:r>
            <a:r>
              <a:rPr sz="1700" b="1" dirty="0">
                <a:solidFill>
                  <a:srgbClr val="E76F51"/>
                </a:solidFill>
                <a:latin typeface="Calibri"/>
              </a:rPr>
              <a:t>
с </a:t>
            </a:r>
            <a:r>
              <a:rPr sz="1700" b="1" dirty="0" err="1">
                <a:solidFill>
                  <a:srgbClr val="E76F51"/>
                </a:solidFill>
                <a:latin typeface="Calibri"/>
              </a:rPr>
              <a:t>оценкой</a:t>
            </a:r>
            <a:endParaRPr sz="1700" b="1" dirty="0">
              <a:solidFill>
                <a:srgbClr val="E76F51"/>
              </a:solidFill>
              <a:latin typeface="Calibri"/>
            </a:endParaRPr>
          </a:p>
        </p:txBody>
      </p:sp>
      <p:cxnSp>
        <p:nvCxnSpPr>
          <p:cNvPr id="18" name="Connector 17"/>
          <p:cNvCxnSpPr>
            <a:cxnSpLocks/>
            <a:endCxn id="14" idx="1"/>
          </p:cNvCxnSpPr>
          <p:nvPr/>
        </p:nvCxnSpPr>
        <p:spPr>
          <a:xfrm>
            <a:off x="7223760" y="2423160"/>
            <a:ext cx="502919" cy="0"/>
          </a:xfrm>
          <a:prstGeom prst="line">
            <a:avLst/>
          </a:prstGeom>
          <a:ln w="25400">
            <a:solidFill>
              <a:srgbClr val="52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endCxn id="16" idx="1"/>
          </p:cNvCxnSpPr>
          <p:nvPr/>
        </p:nvCxnSpPr>
        <p:spPr>
          <a:xfrm flipV="1">
            <a:off x="9052560" y="2423156"/>
            <a:ext cx="502920" cy="4"/>
          </a:xfrm>
          <a:prstGeom prst="line">
            <a:avLst/>
          </a:prstGeom>
          <a:ln w="25400">
            <a:solidFill>
              <a:srgbClr val="52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97880" y="3794760"/>
            <a:ext cx="237744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Calibri"/>
              </a:rPr>
              <a:t>Назначение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4160520"/>
            <a:ext cx="4956048" cy="184973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700" b="0" dirty="0" err="1">
                <a:solidFill>
                  <a:srgbClr val="1A2330"/>
                </a:solidFill>
                <a:latin typeface="Calibri"/>
              </a:rPr>
              <a:t>хранить</a:t>
            </a:r>
            <a:r>
              <a:rPr sz="17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2330"/>
                </a:solidFill>
                <a:latin typeface="Calibri"/>
              </a:rPr>
              <a:t>данные</a:t>
            </a:r>
            <a:r>
              <a:rPr sz="1700" b="0" dirty="0">
                <a:solidFill>
                  <a:srgbClr val="1A2330"/>
                </a:solidFill>
                <a:latin typeface="Calibri"/>
              </a:rPr>
              <a:t> о </a:t>
            </a:r>
            <a:r>
              <a:rPr sz="1700" b="0" dirty="0" err="1">
                <a:solidFill>
                  <a:srgbClr val="1A2330"/>
                </a:solidFill>
                <a:latin typeface="Calibri"/>
              </a:rPr>
              <a:t>производителях</a:t>
            </a:r>
            <a:r>
              <a:rPr sz="1700" b="0" dirty="0">
                <a:solidFill>
                  <a:srgbClr val="1A2330"/>
                </a:solidFill>
                <a:latin typeface="Calibri"/>
              </a:rPr>
              <a:t> и FPGA-</a:t>
            </a:r>
            <a:r>
              <a:rPr sz="1700" b="0" dirty="0" err="1">
                <a:solidFill>
                  <a:srgbClr val="1A2330"/>
                </a:solidFill>
                <a:latin typeface="Calibri"/>
              </a:rPr>
              <a:t>устройствах</a:t>
            </a:r>
            <a:r>
              <a:rPr lang="en-US" sz="1700" dirty="0">
                <a:solidFill>
                  <a:srgbClr val="1A2330"/>
                </a:solidFill>
                <a:latin typeface="Calibri"/>
              </a:rPr>
              <a:t>.</a:t>
            </a:r>
            <a:br>
              <a:rPr lang="en-US" sz="1700" dirty="0">
                <a:solidFill>
                  <a:srgbClr val="1A2330"/>
                </a:solidFill>
                <a:latin typeface="Calibri"/>
              </a:rPr>
            </a:br>
            <a:endParaRPr lang="en-US" sz="1700" b="0" dirty="0">
              <a:solidFill>
                <a:srgbClr val="1A2330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1A2330"/>
                </a:solidFill>
              </a:rPr>
              <a:t>создавать профили миссий</a:t>
            </a:r>
            <a:r>
              <a:rPr lang="en-US" sz="1700" dirty="0">
                <a:solidFill>
                  <a:srgbClr val="1A2330"/>
                </a:solidFill>
              </a:rPr>
              <a:t>.</a:t>
            </a:r>
            <a:br>
              <a:rPr lang="en-US" sz="1700" dirty="0">
                <a:solidFill>
                  <a:srgbClr val="1A2330"/>
                </a:solidFill>
              </a:rPr>
            </a:br>
            <a:endParaRPr lang="en-US" sz="1700" dirty="0">
              <a:solidFill>
                <a:srgbClr val="1A233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1A2330"/>
                </a:solidFill>
              </a:rPr>
              <a:t>автоматически подбирать подходящие устройства по ограничениям.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53035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52616B"/>
                </a:solidFill>
                <a:latin typeface="Calibri"/>
              </a:rPr>
              <a:t>Цифровая кафедра МФТИ | Программирование на 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00800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0">
                <a:solidFill>
                  <a:srgbClr val="52616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Calibri Light"/>
              </a:rPr>
              <a:t>Основной функционал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97840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Calibri"/>
              </a:rPr>
              <a:t>Сервис покрывает требования курса: CRUD, авторизация, валидация, бизнес-логика и тестирование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1143000" cy="3657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1627632"/>
            <a:ext cx="48920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A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10512"/>
            <a:ext cx="2057400" cy="347472"/>
          </a:xfrm>
          <a:prstGeom prst="roundRect">
            <a:avLst>
              <a:gd name="adj" fmla="val 1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9092"/>
            <a:ext cx="1965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Регистрация и вход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80844"/>
            <a:ext cx="4297680" cy="8956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00" b="0" dirty="0">
                <a:solidFill>
                  <a:srgbClr val="1A2330"/>
                </a:solidFill>
                <a:latin typeface="Calibri"/>
              </a:rPr>
              <a:t>POST /auth/register
POST /auth/login
GET /auth/me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27632"/>
            <a:ext cx="48920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A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46520" y="1810512"/>
            <a:ext cx="2057400" cy="347472"/>
          </a:xfrm>
          <a:prstGeom prst="roundRect">
            <a:avLst>
              <a:gd name="adj" fmla="val 18000"/>
            </a:avLst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79092"/>
            <a:ext cx="1965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CRUD-сущности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95144"/>
            <a:ext cx="429768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00" b="0">
                <a:solidFill>
                  <a:srgbClr val="1A2330"/>
                </a:solidFill>
                <a:latin typeface="Calibri"/>
              </a:rPr>
              <a:t>users, vendors,
fpga_devices, 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685032"/>
            <a:ext cx="48920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A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3867912"/>
            <a:ext cx="2057400" cy="347472"/>
          </a:xfrm>
          <a:prstGeom prst="roundRect">
            <a:avLst>
              <a:gd name="adj" fmla="val 18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36492"/>
            <a:ext cx="1965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Подбор FPGA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52544"/>
            <a:ext cx="429768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00" b="0">
                <a:solidFill>
                  <a:srgbClr val="1A2330"/>
                </a:solidFill>
                <a:latin typeface="Calibri"/>
              </a:rPr>
              <a:t>POST /recommendations/
GET /recommendations/mission/{id}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685032"/>
            <a:ext cx="48920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A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46520" y="3867912"/>
            <a:ext cx="2057400" cy="347472"/>
          </a:xfrm>
          <a:prstGeom prst="roundRect">
            <a:avLst>
              <a:gd name="adj" fmla="val 18000"/>
            </a:avLst>
          </a:prstGeom>
          <a:solidFill>
            <a:srgbClr val="2FB344"/>
          </a:solidFill>
          <a:ln>
            <a:solidFill>
              <a:srgbClr val="2FB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936492"/>
            <a:ext cx="1965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Документация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52544"/>
            <a:ext cx="429768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00" b="0">
                <a:solidFill>
                  <a:srgbClr val="1A2330"/>
                </a:solidFill>
                <a:latin typeface="Calibri"/>
              </a:rPr>
              <a:t>Swagger/OpenAPI
http://127.0.0.1:8000/docs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4820" y="5408542"/>
            <a:ext cx="320040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 dirty="0" err="1">
                <a:solidFill>
                  <a:srgbClr val="102A43"/>
                </a:solidFill>
                <a:latin typeface="Calibri"/>
              </a:rPr>
              <a:t>Ключевые</a:t>
            </a:r>
            <a:r>
              <a:rPr sz="1600" b="1" dirty="0">
                <a:solidFill>
                  <a:srgbClr val="102A43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02A43"/>
                </a:solidFill>
                <a:latin typeface="Calibri"/>
              </a:rPr>
              <a:t>действия</a:t>
            </a:r>
            <a:r>
              <a:rPr sz="1600" b="1" dirty="0">
                <a:solidFill>
                  <a:srgbClr val="102A43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02A43"/>
                </a:solidFill>
                <a:latin typeface="Calibri"/>
              </a:rPr>
              <a:t>пользователя</a:t>
            </a:r>
            <a:endParaRPr sz="1600" b="1" dirty="0">
              <a:solidFill>
                <a:srgbClr val="102A43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7700" y="5738342"/>
            <a:ext cx="10896600" cy="29546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b="0" dirty="0" err="1">
                <a:latin typeface="Calibri"/>
              </a:rPr>
              <a:t>Авторизоваться</a:t>
            </a:r>
            <a:r>
              <a:rPr b="0" dirty="0">
                <a:latin typeface="Calibri"/>
              </a:rPr>
              <a:t> → </a:t>
            </a:r>
            <a:r>
              <a:rPr b="0" dirty="0" err="1">
                <a:latin typeface="Calibri"/>
              </a:rPr>
              <a:t>создать</a:t>
            </a:r>
            <a:r>
              <a:rPr b="0" dirty="0">
                <a:latin typeface="Calibri"/>
              </a:rPr>
              <a:t> </a:t>
            </a:r>
            <a:r>
              <a:rPr b="0" dirty="0" err="1">
                <a:latin typeface="Calibri"/>
              </a:rPr>
              <a:t>миссию</a:t>
            </a:r>
            <a:r>
              <a:rPr b="0" dirty="0">
                <a:latin typeface="Calibri"/>
              </a:rPr>
              <a:t> → </a:t>
            </a:r>
            <a:r>
              <a:rPr b="0" dirty="0" err="1">
                <a:latin typeface="Calibri"/>
              </a:rPr>
              <a:t>посмотреть</a:t>
            </a:r>
            <a:r>
              <a:rPr b="0" dirty="0">
                <a:latin typeface="Calibri"/>
              </a:rPr>
              <a:t> </a:t>
            </a:r>
            <a:r>
              <a:rPr b="0" dirty="0" err="1">
                <a:latin typeface="Calibri"/>
              </a:rPr>
              <a:t>каталог</a:t>
            </a:r>
            <a:r>
              <a:rPr b="0" dirty="0">
                <a:latin typeface="Calibri"/>
              </a:rPr>
              <a:t> </a:t>
            </a:r>
            <a:r>
              <a:rPr b="0" dirty="0" err="1">
                <a:latin typeface="Calibri"/>
              </a:rPr>
              <a:t>устройств</a:t>
            </a:r>
            <a:r>
              <a:rPr b="0" dirty="0">
                <a:latin typeface="Calibri"/>
              </a:rPr>
              <a:t> → </a:t>
            </a:r>
            <a:r>
              <a:rPr b="0" dirty="0" err="1">
                <a:latin typeface="Calibri"/>
              </a:rPr>
              <a:t>получить</a:t>
            </a:r>
            <a:r>
              <a:rPr b="0" dirty="0">
                <a:latin typeface="Calibri"/>
              </a:rPr>
              <a:t> </a:t>
            </a:r>
            <a:r>
              <a:rPr b="0" dirty="0" err="1">
                <a:latin typeface="Calibri"/>
              </a:rPr>
              <a:t>ранжированный</a:t>
            </a:r>
            <a:r>
              <a:rPr b="0" dirty="0">
                <a:latin typeface="Calibri"/>
              </a:rPr>
              <a:t> </a:t>
            </a:r>
            <a:r>
              <a:rPr b="0" dirty="0" err="1">
                <a:latin typeface="Calibri"/>
              </a:rPr>
              <a:t>список</a:t>
            </a:r>
            <a:r>
              <a:rPr b="0" dirty="0">
                <a:latin typeface="Calibri"/>
              </a:rPr>
              <a:t> FPGA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53035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52616B"/>
                </a:solidFill>
                <a:latin typeface="Calibri"/>
              </a:rPr>
              <a:t>Цифровая кафедра МФТИ | Программирование на 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00800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0">
                <a:solidFill>
                  <a:srgbClr val="52616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Calibri Light"/>
              </a:rPr>
              <a:t>Архитектура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97840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Calibri"/>
              </a:rPr>
              <a:t>Код разделен на небольшие модули: входная точка, маршруты, схемы, модели, безопасность и алгоритм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1143000" cy="3657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240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801368"/>
            <a:ext cx="2002536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Consolas"/>
              </a:rPr>
              <a:t>service/app/main.py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48840"/>
            <a:ext cx="2002536" cy="57607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50" b="0">
                <a:solidFill>
                  <a:srgbClr val="1A2330"/>
                </a:solidFill>
                <a:latin typeface="Calibri"/>
              </a:rPr>
              <a:t>создает FastAPI app
подключает роутеры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17320"/>
            <a:ext cx="24231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76472" y="1527048"/>
            <a:ext cx="2185415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B998B"/>
                </a:solidFill>
                <a:latin typeface="Consolas"/>
              </a:rPr>
              <a:t>routers/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1874519"/>
            <a:ext cx="2185415" cy="11247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50" b="0">
                <a:solidFill>
                  <a:srgbClr val="1A2330"/>
                </a:solidFill>
                <a:latin typeface="Calibri"/>
              </a:rPr>
              <a:t>auth, users, vendors,
devices, missions,
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691640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39712" y="1801368"/>
            <a:ext cx="1911095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2463EB"/>
                </a:solidFill>
                <a:latin typeface="Consolas"/>
              </a:rPr>
              <a:t>schemas.py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2148840"/>
            <a:ext cx="1911095" cy="57607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50" b="0">
                <a:solidFill>
                  <a:srgbClr val="1A2330"/>
                </a:solidFill>
                <a:latin typeface="Calibri"/>
              </a:rPr>
              <a:t>Pydantic-схемы
валидация запросов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69164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91472" y="1801368"/>
            <a:ext cx="1819656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Consolas"/>
              </a:rPr>
              <a:t>models.py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2148840"/>
            <a:ext cx="1819656" cy="57607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50" b="0">
                <a:solidFill>
                  <a:srgbClr val="1A2330"/>
                </a:solidFill>
                <a:latin typeface="Calibri"/>
              </a:rPr>
              <a:t>SQLAlchemy ORM
таблицы и связи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069080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FB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4178808"/>
            <a:ext cx="2048256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2FB344"/>
                </a:solidFill>
                <a:latin typeface="Consolas"/>
              </a:rPr>
              <a:t>security.py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526280"/>
            <a:ext cx="2048256" cy="4846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50" b="0">
                <a:solidFill>
                  <a:srgbClr val="1A2330"/>
                </a:solidFill>
                <a:latin typeface="Calibri"/>
              </a:rPr>
              <a:t>bcrypt + JWT
OAuth2 Bearer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3886200"/>
            <a:ext cx="22860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59352" y="3995928"/>
            <a:ext cx="2048256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Consolas"/>
              </a:rPr>
              <a:t>database.py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4343400"/>
            <a:ext cx="2048256" cy="8503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50" b="0">
                <a:solidFill>
                  <a:srgbClr val="1A2330"/>
                </a:solidFill>
                <a:latin typeface="Calibri"/>
              </a:rPr>
              <a:t>SessionLocal
init_db()
SQLite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388620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39712" y="3995928"/>
            <a:ext cx="2093976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Consolas"/>
              </a:rPr>
              <a:t>recommendation.py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4343400"/>
            <a:ext cx="2093976" cy="8503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50" b="0">
                <a:solidFill>
                  <a:srgbClr val="1A2330"/>
                </a:solidFill>
                <a:latin typeface="Calibri"/>
              </a:rPr>
              <a:t>фильтрация и
взвешенный 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28048" y="406908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46920" y="4178808"/>
            <a:ext cx="1728216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2463EB"/>
                </a:solidFill>
                <a:latin typeface="Consolas"/>
              </a:rPr>
              <a:t>tests/test_api.py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4526280"/>
            <a:ext cx="1728216" cy="4846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50" b="0">
                <a:solidFill>
                  <a:srgbClr val="1A2330"/>
                </a:solidFill>
                <a:latin typeface="Calibri"/>
              </a:rPr>
              <a:t>TestClient
in-memory SQLite</a:t>
            </a:r>
          </a:p>
        </p:txBody>
      </p:sp>
      <p:cxnSp>
        <p:nvCxnSpPr>
          <p:cNvPr id="29" name="Connector 28"/>
          <p:cNvCxnSpPr>
            <a:cxnSpLocks/>
            <a:endCxn id="8" idx="1"/>
          </p:cNvCxnSpPr>
          <p:nvPr/>
        </p:nvCxnSpPr>
        <p:spPr>
          <a:xfrm flipV="1">
            <a:off x="2971800" y="2217420"/>
            <a:ext cx="685800" cy="4572"/>
          </a:xfrm>
          <a:prstGeom prst="line">
            <a:avLst/>
          </a:prstGeom>
          <a:ln w="25400">
            <a:solidFill>
              <a:srgbClr val="52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  <a:endCxn id="11" idx="1"/>
          </p:cNvCxnSpPr>
          <p:nvPr/>
        </p:nvCxnSpPr>
        <p:spPr>
          <a:xfrm flipV="1">
            <a:off x="6080760" y="2217420"/>
            <a:ext cx="640080" cy="4572"/>
          </a:xfrm>
          <a:prstGeom prst="line">
            <a:avLst/>
          </a:prstGeom>
          <a:ln w="25400">
            <a:solidFill>
              <a:srgbClr val="52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  <a:endCxn id="14" idx="1"/>
          </p:cNvCxnSpPr>
          <p:nvPr/>
        </p:nvCxnSpPr>
        <p:spPr>
          <a:xfrm flipV="1">
            <a:off x="8869680" y="2217420"/>
            <a:ext cx="502920" cy="4572"/>
          </a:xfrm>
          <a:prstGeom prst="line">
            <a:avLst/>
          </a:prstGeom>
          <a:ln w="25400">
            <a:solidFill>
              <a:srgbClr val="52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cxnSpLocks/>
            <a:endCxn id="20" idx="0"/>
          </p:cNvCxnSpPr>
          <p:nvPr/>
        </p:nvCxnSpPr>
        <p:spPr>
          <a:xfrm>
            <a:off x="4983480" y="3017520"/>
            <a:ext cx="0" cy="868680"/>
          </a:xfrm>
          <a:prstGeom prst="line">
            <a:avLst/>
          </a:prstGeom>
          <a:ln w="25400">
            <a:solidFill>
              <a:srgbClr val="52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  <a:endCxn id="23" idx="0"/>
          </p:cNvCxnSpPr>
          <p:nvPr/>
        </p:nvCxnSpPr>
        <p:spPr>
          <a:xfrm flipH="1">
            <a:off x="7886700" y="2743200"/>
            <a:ext cx="4572" cy="1143000"/>
          </a:xfrm>
          <a:prstGeom prst="line">
            <a:avLst/>
          </a:prstGeom>
          <a:ln w="25400">
            <a:solidFill>
              <a:srgbClr val="52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37376"/>
            <a:ext cx="53035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52616B"/>
                </a:solidFill>
                <a:latin typeface="Calibri"/>
              </a:rPr>
              <a:t>Цифровая кафедра МФТИ | Программирование на Python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00800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0">
                <a:solidFill>
                  <a:srgbClr val="52616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Calibri Light"/>
              </a:rPr>
              <a:t>Модель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97840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Calibri"/>
              </a:rPr>
              <a:t>В базе четыре основные таблицы и явные связи между ними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1143000" cy="3657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20116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>
                <a:solidFill>
                  <a:srgbClr val="1B998B"/>
                </a:solidFill>
                <a:latin typeface="Consolas"/>
              </a:rPr>
              <a:t>users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350008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id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560320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450592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email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770632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full_name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2980944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2871216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hashed_password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82880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4760" y="1938528"/>
            <a:ext cx="20116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>
                <a:solidFill>
                  <a:srgbClr val="2463EB"/>
                </a:solidFill>
                <a:latin typeface="Consolas"/>
              </a:rPr>
              <a:t>missions</a:t>
            </a:r>
          </a:p>
        </p:txBody>
      </p:sp>
      <p:sp>
        <p:nvSpPr>
          <p:cNvPr id="17" name="Oval 16"/>
          <p:cNvSpPr/>
          <p:nvPr/>
        </p:nvSpPr>
        <p:spPr>
          <a:xfrm>
            <a:off x="3813048" y="2350008"/>
            <a:ext cx="82296" cy="82296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77639" y="2240280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owner_id → users.id</a:t>
            </a:r>
          </a:p>
        </p:txBody>
      </p:sp>
      <p:sp>
        <p:nvSpPr>
          <p:cNvPr id="19" name="Oval 18"/>
          <p:cNvSpPr/>
          <p:nvPr/>
        </p:nvSpPr>
        <p:spPr>
          <a:xfrm>
            <a:off x="3813048" y="2560320"/>
            <a:ext cx="82296" cy="82296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77639" y="2450592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orbit</a:t>
            </a:r>
          </a:p>
        </p:txBody>
      </p:sp>
      <p:sp>
        <p:nvSpPr>
          <p:cNvPr id="21" name="Oval 20"/>
          <p:cNvSpPr/>
          <p:nvPr/>
        </p:nvSpPr>
        <p:spPr>
          <a:xfrm>
            <a:off x="3813048" y="2770632"/>
            <a:ext cx="82296" cy="82296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77639" y="2660904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required_tid_krad</a:t>
            </a:r>
          </a:p>
        </p:txBody>
      </p:sp>
      <p:sp>
        <p:nvSpPr>
          <p:cNvPr id="23" name="Oval 22"/>
          <p:cNvSpPr/>
          <p:nvPr/>
        </p:nvSpPr>
        <p:spPr>
          <a:xfrm>
            <a:off x="3813048" y="2980944"/>
            <a:ext cx="82296" cy="82296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77639" y="2871216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max_power_w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34340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453128"/>
            <a:ext cx="20116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>
                <a:solidFill>
                  <a:srgbClr val="E76F51"/>
                </a:solidFill>
                <a:latin typeface="Consolas"/>
              </a:rPr>
              <a:t>vendors</a:t>
            </a:r>
          </a:p>
        </p:txBody>
      </p:sp>
      <p:sp>
        <p:nvSpPr>
          <p:cNvPr id="27" name="Oval 26"/>
          <p:cNvSpPr/>
          <p:nvPr/>
        </p:nvSpPr>
        <p:spPr>
          <a:xfrm>
            <a:off x="932688" y="4864608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754880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id</a:t>
            </a:r>
          </a:p>
        </p:txBody>
      </p:sp>
      <p:sp>
        <p:nvSpPr>
          <p:cNvPr id="29" name="Oval 28"/>
          <p:cNvSpPr/>
          <p:nvPr/>
        </p:nvSpPr>
        <p:spPr>
          <a:xfrm>
            <a:off x="932688" y="5074920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4965192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name</a:t>
            </a:r>
          </a:p>
        </p:txBody>
      </p:sp>
      <p:sp>
        <p:nvSpPr>
          <p:cNvPr id="31" name="Oval 30"/>
          <p:cNvSpPr/>
          <p:nvPr/>
        </p:nvSpPr>
        <p:spPr>
          <a:xfrm>
            <a:off x="932688" y="5285232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5175504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country</a:t>
            </a:r>
          </a:p>
        </p:txBody>
      </p:sp>
      <p:sp>
        <p:nvSpPr>
          <p:cNvPr id="33" name="Oval 32"/>
          <p:cNvSpPr/>
          <p:nvPr/>
        </p:nvSpPr>
        <p:spPr>
          <a:xfrm>
            <a:off x="932688" y="5495544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7280" y="5385816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website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434340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FB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94760" y="4453128"/>
            <a:ext cx="20116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>
                <a:solidFill>
                  <a:srgbClr val="2FB344"/>
                </a:solidFill>
                <a:latin typeface="Consolas"/>
              </a:rPr>
              <a:t>fpga_devices</a:t>
            </a:r>
          </a:p>
        </p:txBody>
      </p:sp>
      <p:sp>
        <p:nvSpPr>
          <p:cNvPr id="37" name="Oval 36"/>
          <p:cNvSpPr/>
          <p:nvPr/>
        </p:nvSpPr>
        <p:spPr>
          <a:xfrm>
            <a:off x="3813048" y="4864608"/>
            <a:ext cx="82296" cy="82296"/>
          </a:xfrm>
          <a:prstGeom prst="ellipse">
            <a:avLst/>
          </a:prstGeom>
          <a:solidFill>
            <a:srgbClr val="2FB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77639" y="4754880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vendor_id → vendors.id</a:t>
            </a:r>
          </a:p>
        </p:txBody>
      </p:sp>
      <p:sp>
        <p:nvSpPr>
          <p:cNvPr id="39" name="Oval 38"/>
          <p:cNvSpPr/>
          <p:nvPr/>
        </p:nvSpPr>
        <p:spPr>
          <a:xfrm>
            <a:off x="3813048" y="5074920"/>
            <a:ext cx="82296" cy="82296"/>
          </a:xfrm>
          <a:prstGeom prst="ellipse">
            <a:avLst/>
          </a:prstGeom>
          <a:solidFill>
            <a:srgbClr val="2FB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77639" y="4965192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logic_cells</a:t>
            </a:r>
          </a:p>
        </p:txBody>
      </p:sp>
      <p:sp>
        <p:nvSpPr>
          <p:cNvPr id="41" name="Oval 40"/>
          <p:cNvSpPr/>
          <p:nvPr/>
        </p:nvSpPr>
        <p:spPr>
          <a:xfrm>
            <a:off x="3813048" y="5285232"/>
            <a:ext cx="82296" cy="82296"/>
          </a:xfrm>
          <a:prstGeom prst="ellipse">
            <a:avLst/>
          </a:prstGeom>
          <a:solidFill>
            <a:srgbClr val="2FB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77639" y="5175504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tid_krad</a:t>
            </a:r>
          </a:p>
        </p:txBody>
      </p:sp>
      <p:sp>
        <p:nvSpPr>
          <p:cNvPr id="43" name="Oval 42"/>
          <p:cNvSpPr/>
          <p:nvPr/>
        </p:nvSpPr>
        <p:spPr>
          <a:xfrm>
            <a:off x="3813048" y="5495544"/>
            <a:ext cx="82296" cy="82296"/>
          </a:xfrm>
          <a:prstGeom prst="ellipse">
            <a:avLst/>
          </a:prstGeom>
          <a:solidFill>
            <a:srgbClr val="2FB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77639" y="5385816"/>
            <a:ext cx="1892807" cy="283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1A2330"/>
                </a:solidFill>
                <a:latin typeface="Calibri"/>
              </a:rPr>
              <a:t>temp range</a:t>
            </a:r>
          </a:p>
        </p:txBody>
      </p:sp>
      <p:cxnSp>
        <p:nvCxnSpPr>
          <p:cNvPr id="45" name="Connector 44"/>
          <p:cNvCxnSpPr>
            <a:cxnSpLocks/>
            <a:endCxn id="15" idx="1"/>
          </p:cNvCxnSpPr>
          <p:nvPr/>
        </p:nvCxnSpPr>
        <p:spPr>
          <a:xfrm>
            <a:off x="3108960" y="2514600"/>
            <a:ext cx="548640" cy="22860"/>
          </a:xfrm>
          <a:prstGeom prst="line">
            <a:avLst/>
          </a:prstGeom>
          <a:ln w="25400">
            <a:solidFill>
              <a:srgbClr val="52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720840" y="1874519"/>
            <a:ext cx="13716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Calibri"/>
              </a:rPr>
              <a:t>Связи</a:t>
            </a:r>
          </a:p>
        </p:txBody>
      </p:sp>
      <p:sp>
        <p:nvSpPr>
          <p:cNvPr id="48" name="Oval 47"/>
          <p:cNvSpPr/>
          <p:nvPr/>
        </p:nvSpPr>
        <p:spPr>
          <a:xfrm>
            <a:off x="6720840" y="2414016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85431" y="2304288"/>
            <a:ext cx="4407408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0">
                <a:solidFill>
                  <a:srgbClr val="1A2330"/>
                </a:solidFill>
                <a:latin typeface="Calibri"/>
              </a:rPr>
              <a:t>Один пользователь может иметь несколько миссий.</a:t>
            </a:r>
          </a:p>
        </p:txBody>
      </p:sp>
      <p:sp>
        <p:nvSpPr>
          <p:cNvPr id="50" name="Oval 49"/>
          <p:cNvSpPr/>
          <p:nvPr/>
        </p:nvSpPr>
        <p:spPr>
          <a:xfrm>
            <a:off x="6699504" y="3147059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85432" y="3028188"/>
            <a:ext cx="4407408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0" dirty="0" err="1">
                <a:solidFill>
                  <a:srgbClr val="1A2330"/>
                </a:solidFill>
                <a:latin typeface="Calibri"/>
              </a:rPr>
              <a:t>Один</a:t>
            </a:r>
            <a:r>
              <a:rPr sz="18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30"/>
                </a:solidFill>
                <a:latin typeface="Calibri"/>
              </a:rPr>
              <a:t>производитель</a:t>
            </a:r>
            <a:r>
              <a:rPr sz="18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30"/>
                </a:solidFill>
                <a:latin typeface="Calibri"/>
              </a:rPr>
              <a:t>может</a:t>
            </a:r>
            <a:r>
              <a:rPr sz="18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30"/>
                </a:solidFill>
                <a:latin typeface="Calibri"/>
              </a:rPr>
              <a:t>иметь</a:t>
            </a:r>
            <a:r>
              <a:rPr sz="18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30"/>
                </a:solidFill>
                <a:latin typeface="Calibri"/>
              </a:rPr>
              <a:t>несколько</a:t>
            </a:r>
            <a:r>
              <a:rPr sz="1800" b="0" dirty="0">
                <a:solidFill>
                  <a:srgbClr val="1A2330"/>
                </a:solidFill>
                <a:latin typeface="Calibri"/>
              </a:rPr>
              <a:t> FPGA-</a:t>
            </a:r>
            <a:r>
              <a:rPr sz="1800" b="0" dirty="0" err="1">
                <a:solidFill>
                  <a:srgbClr val="1A2330"/>
                </a:solidFill>
                <a:latin typeface="Calibri"/>
              </a:rPr>
              <a:t>устройств</a:t>
            </a:r>
            <a:r>
              <a:rPr sz="1800" b="0" dirty="0">
                <a:solidFill>
                  <a:srgbClr val="1A2330"/>
                </a:solidFill>
                <a:latin typeface="Calibri"/>
              </a:rPr>
              <a:t>.</a:t>
            </a:r>
          </a:p>
        </p:txBody>
      </p:sp>
      <p:sp>
        <p:nvSpPr>
          <p:cNvPr id="52" name="Oval 51"/>
          <p:cNvSpPr/>
          <p:nvPr/>
        </p:nvSpPr>
        <p:spPr>
          <a:xfrm>
            <a:off x="6740652" y="3880103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85432" y="3730751"/>
            <a:ext cx="4407408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0" dirty="0">
                <a:solidFill>
                  <a:srgbClr val="1A2330"/>
                </a:solidFill>
                <a:latin typeface="Calibri"/>
              </a:rPr>
              <a:t>Endpoint </a:t>
            </a:r>
            <a:r>
              <a:rPr sz="1800" b="0" dirty="0" err="1">
                <a:solidFill>
                  <a:srgbClr val="1A2330"/>
                </a:solidFill>
                <a:latin typeface="Calibri"/>
              </a:rPr>
              <a:t>рекомендаций</a:t>
            </a:r>
            <a:r>
              <a:rPr sz="18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30"/>
                </a:solidFill>
                <a:latin typeface="Calibri"/>
              </a:rPr>
              <a:t>сравнивает</a:t>
            </a:r>
            <a:r>
              <a:rPr sz="18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30"/>
                </a:solidFill>
                <a:latin typeface="Calibri"/>
              </a:rPr>
              <a:t>требования</a:t>
            </a:r>
            <a:r>
              <a:rPr sz="18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30"/>
                </a:solidFill>
                <a:latin typeface="Calibri"/>
              </a:rPr>
              <a:t>миссии</a:t>
            </a:r>
            <a:r>
              <a:rPr sz="1800" b="0" dirty="0">
                <a:solidFill>
                  <a:srgbClr val="1A2330"/>
                </a:solidFill>
                <a:latin typeface="Calibri"/>
              </a:rPr>
              <a:t> с </a:t>
            </a:r>
            <a:r>
              <a:rPr sz="1800" b="0" dirty="0" err="1">
                <a:solidFill>
                  <a:srgbClr val="1A2330"/>
                </a:solidFill>
                <a:latin typeface="Calibri"/>
              </a:rPr>
              <a:t>каталогом</a:t>
            </a:r>
            <a:r>
              <a:rPr sz="18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30"/>
                </a:solidFill>
                <a:latin typeface="Calibri"/>
              </a:rPr>
              <a:t>устройств</a:t>
            </a:r>
            <a:r>
              <a:rPr sz="1800" b="0" dirty="0">
                <a:solidFill>
                  <a:srgbClr val="1A2330"/>
                </a:solidFill>
                <a:latin typeface="Calibri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39128" y="4681728"/>
            <a:ext cx="4389120" cy="7498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0">
                <a:solidFill>
                  <a:srgbClr val="52616B"/>
                </a:solidFill>
                <a:latin typeface="Calibri"/>
              </a:rPr>
              <a:t>SQLite создается автоматически при запуске приложения через init_db(). Для тестов используется отдельная in-memory база.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37376"/>
            <a:ext cx="53035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52616B"/>
                </a:solidFill>
                <a:latin typeface="Calibri"/>
              </a:rPr>
              <a:t>Цифровая кафедра МФТИ | Программирование на Python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92840" y="6400800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0">
                <a:solidFill>
                  <a:srgbClr val="52616B"/>
                </a:solidFill>
                <a:latin typeface="Calibri"/>
              </a:rPr>
              <a:t>05</a:t>
            </a:r>
          </a:p>
        </p:txBody>
      </p:sp>
      <p:cxnSp>
        <p:nvCxnSpPr>
          <p:cNvPr id="64" name="Connector 28">
            <a:extLst>
              <a:ext uri="{FF2B5EF4-FFF2-40B4-BE49-F238E27FC236}">
                <a16:creationId xmlns:a16="http://schemas.microsoft.com/office/drawing/2014/main" id="{3351F7D0-E0F4-45CE-A76D-290BB8C20710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3108960" y="5052060"/>
            <a:ext cx="548640" cy="27432"/>
          </a:xfrm>
          <a:prstGeom prst="line">
            <a:avLst/>
          </a:prstGeom>
          <a:ln w="25400">
            <a:solidFill>
              <a:srgbClr val="52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Calibri Light"/>
              </a:rPr>
              <a:t>Технологии и обоснование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97840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Calibri"/>
              </a:rPr>
              <a:t>Выбран стек, который быстро дает рабочий API, валидацию, документацию и тестируемость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1143000" cy="3657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5074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E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18488"/>
            <a:ext cx="1508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Calibri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618488"/>
            <a:ext cx="301752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>
                <a:solidFill>
                  <a:srgbClr val="1A2330"/>
                </a:solidFill>
                <a:latin typeface="Calibri"/>
              </a:rPr>
              <a:t>основной язык проекта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965960"/>
            <a:ext cx="5074920" cy="457200"/>
          </a:xfrm>
          <a:prstGeom prst="rect">
            <a:avLst/>
          </a:prstGeom>
          <a:solidFill>
            <a:srgbClr val="F1F8F9"/>
          </a:solidFill>
          <a:ln>
            <a:solidFill>
              <a:srgbClr val="DE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1508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Calibri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075688"/>
            <a:ext cx="301752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>
                <a:solidFill>
                  <a:srgbClr val="1A2330"/>
                </a:solidFill>
                <a:latin typeface="Calibri"/>
              </a:rPr>
              <a:t>REST API, зависимости, Swagger/OpenAPI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23160"/>
            <a:ext cx="5074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E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532888"/>
            <a:ext cx="1508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Calibri"/>
              </a:rPr>
              <a:t>Uvicorn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532888"/>
            <a:ext cx="301752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>
                <a:solidFill>
                  <a:srgbClr val="1A2330"/>
                </a:solidFill>
                <a:latin typeface="Calibri"/>
              </a:rPr>
              <a:t>локальный ASGI-сервер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880360"/>
            <a:ext cx="5074920" cy="457200"/>
          </a:xfrm>
          <a:prstGeom prst="rect">
            <a:avLst/>
          </a:prstGeom>
          <a:solidFill>
            <a:srgbClr val="F1F8F9"/>
          </a:solidFill>
          <a:ln>
            <a:solidFill>
              <a:srgbClr val="DE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508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Calibri"/>
              </a:rPr>
              <a:t>Pydantic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990088"/>
            <a:ext cx="3337560" cy="21082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dirty="0" err="1">
                <a:solidFill>
                  <a:srgbClr val="1A2330"/>
                </a:solidFill>
                <a:latin typeface="Calibri"/>
              </a:rPr>
              <a:t>валидация</a:t>
            </a:r>
            <a:r>
              <a:rPr sz="12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2330"/>
                </a:solidFill>
                <a:latin typeface="Calibri"/>
              </a:rPr>
              <a:t>входных</a:t>
            </a:r>
            <a:r>
              <a:rPr sz="12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2330"/>
                </a:solidFill>
                <a:latin typeface="Calibri"/>
              </a:rPr>
              <a:t>данных</a:t>
            </a:r>
            <a:r>
              <a:rPr sz="1250" b="0" dirty="0">
                <a:solidFill>
                  <a:srgbClr val="1A2330"/>
                </a:solidFill>
                <a:latin typeface="Calibri"/>
              </a:rPr>
              <a:t> и </a:t>
            </a:r>
            <a:r>
              <a:rPr sz="1250" b="0" dirty="0" err="1">
                <a:solidFill>
                  <a:srgbClr val="1A2330"/>
                </a:solidFill>
                <a:latin typeface="Calibri"/>
              </a:rPr>
              <a:t>схемы</a:t>
            </a:r>
            <a:r>
              <a:rPr sz="12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2330"/>
                </a:solidFill>
                <a:latin typeface="Calibri"/>
              </a:rPr>
              <a:t>ответов</a:t>
            </a:r>
            <a:endParaRPr sz="1250" b="0" dirty="0">
              <a:solidFill>
                <a:srgbClr val="1A2330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3232" y="3337560"/>
            <a:ext cx="5074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E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447288"/>
            <a:ext cx="1508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Calibri"/>
              </a:rPr>
              <a:t>SQLAlchemy + 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447288"/>
            <a:ext cx="301752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>
                <a:solidFill>
                  <a:srgbClr val="1A2330"/>
                </a:solidFill>
                <a:latin typeface="Calibri"/>
              </a:rPr>
              <a:t>ORM, связи таблиц, простая локальная база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794760"/>
            <a:ext cx="5074920" cy="457200"/>
          </a:xfrm>
          <a:prstGeom prst="rect">
            <a:avLst/>
          </a:prstGeom>
          <a:solidFill>
            <a:srgbClr val="F1F8F9"/>
          </a:solidFill>
          <a:ln>
            <a:solidFill>
              <a:srgbClr val="DE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904488"/>
            <a:ext cx="1508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Calibri"/>
              </a:rPr>
              <a:t>PyJWT + bcrypt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904488"/>
            <a:ext cx="301752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>
                <a:solidFill>
                  <a:srgbClr val="1A2330"/>
                </a:solidFill>
                <a:latin typeface="Calibri"/>
              </a:rPr>
              <a:t>токены доступа и хеширование паролей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251960"/>
            <a:ext cx="5074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E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4361688"/>
            <a:ext cx="1508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Calibri"/>
              </a:rPr>
              <a:t>pytest + TestClient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361688"/>
            <a:ext cx="3456432" cy="21082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dirty="0" err="1">
                <a:solidFill>
                  <a:srgbClr val="1A2330"/>
                </a:solidFill>
                <a:latin typeface="Calibri"/>
              </a:rPr>
              <a:t>автоматическая</a:t>
            </a:r>
            <a:r>
              <a:rPr sz="12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2330"/>
                </a:solidFill>
                <a:latin typeface="Calibri"/>
              </a:rPr>
              <a:t>проверка</a:t>
            </a:r>
            <a:r>
              <a:rPr sz="12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2330"/>
                </a:solidFill>
                <a:latin typeface="Calibri"/>
              </a:rPr>
              <a:t>ключевых</a:t>
            </a:r>
            <a:r>
              <a:rPr sz="12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2330"/>
                </a:solidFill>
                <a:latin typeface="Calibri"/>
              </a:rPr>
              <a:t>сценариев</a:t>
            </a:r>
            <a:endParaRPr sz="1250" b="0" dirty="0">
              <a:solidFill>
                <a:srgbClr val="1A233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0" y="1508760"/>
            <a:ext cx="310896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Calibri"/>
              </a:rPr>
              <a:t>Почему FastAPI подходит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2359152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79" y="2249424"/>
            <a:ext cx="4590288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0" dirty="0" err="1">
                <a:solidFill>
                  <a:srgbClr val="1A2330"/>
                </a:solidFill>
                <a:latin typeface="Calibri"/>
              </a:rPr>
              <a:t>Автоматически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формирует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интерактивную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документацию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Swagger.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2935225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79" y="2825497"/>
            <a:ext cx="4590288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0" dirty="0" err="1">
                <a:solidFill>
                  <a:srgbClr val="1A2330"/>
                </a:solidFill>
                <a:latin typeface="Calibri"/>
              </a:rPr>
              <a:t>Удобно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использует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dependency injection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для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базы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и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авторизации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.</a:t>
            </a:r>
          </a:p>
        </p:txBody>
      </p:sp>
      <p:sp>
        <p:nvSpPr>
          <p:cNvPr id="31" name="Oval 30"/>
          <p:cNvSpPr/>
          <p:nvPr/>
        </p:nvSpPr>
        <p:spPr>
          <a:xfrm>
            <a:off x="6419088" y="3538729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79" y="3429001"/>
            <a:ext cx="4590288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0" dirty="0" err="1">
                <a:solidFill>
                  <a:srgbClr val="1A2330"/>
                </a:solidFill>
                <a:latin typeface="Calibri"/>
              </a:rPr>
              <a:t>Pydantic-схемы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делают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валидацию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явной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и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проверяемой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.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151891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79" y="4042163"/>
            <a:ext cx="4590288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0" dirty="0" err="1">
                <a:solidFill>
                  <a:srgbClr val="1A2330"/>
                </a:solidFill>
                <a:latin typeface="Calibri"/>
              </a:rPr>
              <a:t>Роутеры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позволяют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разделить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код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по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предметным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330"/>
                </a:solidFill>
                <a:latin typeface="Calibri"/>
              </a:rPr>
              <a:t>сущностям</a:t>
            </a:r>
            <a:r>
              <a:rPr sz="1600" b="0" dirty="0">
                <a:solidFill>
                  <a:srgbClr val="1A2330"/>
                </a:solidFill>
                <a:latin typeface="Calibri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800600"/>
            <a:ext cx="457200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0" dirty="0">
                <a:solidFill>
                  <a:srgbClr val="52616B"/>
                </a:solidFill>
                <a:latin typeface="Calibri"/>
              </a:rPr>
              <a:t>SQLite </a:t>
            </a:r>
            <a:r>
              <a:rPr sz="1700" b="0" dirty="0" err="1">
                <a:solidFill>
                  <a:srgbClr val="52616B"/>
                </a:solidFill>
                <a:latin typeface="Calibri"/>
              </a:rPr>
              <a:t>выбран</a:t>
            </a:r>
            <a:r>
              <a:rPr sz="1700" b="0" dirty="0">
                <a:solidFill>
                  <a:srgbClr val="52616B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52616B"/>
                </a:solidFill>
                <a:latin typeface="Calibri"/>
              </a:rPr>
              <a:t>для</a:t>
            </a:r>
            <a:r>
              <a:rPr sz="1700" b="0" dirty="0">
                <a:solidFill>
                  <a:srgbClr val="52616B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52616B"/>
                </a:solidFill>
                <a:latin typeface="Calibri"/>
              </a:rPr>
              <a:t>простоты</a:t>
            </a:r>
            <a:r>
              <a:rPr sz="1700" b="0" dirty="0">
                <a:solidFill>
                  <a:srgbClr val="52616B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52616B"/>
                </a:solidFill>
                <a:latin typeface="Calibri"/>
              </a:rPr>
              <a:t>локального</a:t>
            </a:r>
            <a:r>
              <a:rPr sz="1700" b="0" dirty="0">
                <a:solidFill>
                  <a:srgbClr val="52616B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52616B"/>
                </a:solidFill>
                <a:latin typeface="Calibri"/>
              </a:rPr>
              <a:t>запуска</a:t>
            </a:r>
            <a:r>
              <a:rPr sz="1700" b="0" dirty="0">
                <a:solidFill>
                  <a:srgbClr val="52616B"/>
                </a:solidFill>
                <a:latin typeface="Calibri"/>
              </a:rPr>
              <a:t>: </a:t>
            </a:r>
            <a:r>
              <a:rPr sz="1700" b="0" dirty="0" err="1">
                <a:solidFill>
                  <a:srgbClr val="52616B"/>
                </a:solidFill>
                <a:latin typeface="Calibri"/>
              </a:rPr>
              <a:t>сервис</a:t>
            </a:r>
            <a:r>
              <a:rPr sz="1700" b="0" dirty="0">
                <a:solidFill>
                  <a:srgbClr val="52616B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52616B"/>
                </a:solidFill>
                <a:latin typeface="Calibri"/>
              </a:rPr>
              <a:t>не</a:t>
            </a:r>
            <a:r>
              <a:rPr sz="1700" b="0" dirty="0">
                <a:solidFill>
                  <a:srgbClr val="52616B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52616B"/>
                </a:solidFill>
                <a:latin typeface="Calibri"/>
              </a:rPr>
              <a:t>требует</a:t>
            </a:r>
            <a:r>
              <a:rPr sz="1700" b="0" dirty="0">
                <a:solidFill>
                  <a:srgbClr val="52616B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52616B"/>
                </a:solidFill>
                <a:latin typeface="Calibri"/>
              </a:rPr>
              <a:t>внешней</a:t>
            </a:r>
            <a:r>
              <a:rPr sz="1700" b="0" dirty="0">
                <a:solidFill>
                  <a:srgbClr val="52616B"/>
                </a:solidFill>
                <a:latin typeface="Calibri"/>
              </a:rPr>
              <a:t> СУБД </a:t>
            </a:r>
            <a:r>
              <a:rPr sz="1700" b="0" dirty="0" err="1">
                <a:solidFill>
                  <a:srgbClr val="52616B"/>
                </a:solidFill>
                <a:latin typeface="Calibri"/>
              </a:rPr>
              <a:t>или</a:t>
            </a:r>
            <a:r>
              <a:rPr sz="1700" b="0" dirty="0">
                <a:solidFill>
                  <a:srgbClr val="52616B"/>
                </a:solidFill>
                <a:latin typeface="Calibri"/>
              </a:rPr>
              <a:t> Docker.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37376"/>
            <a:ext cx="53035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52616B"/>
                </a:solidFill>
                <a:latin typeface="Calibri"/>
              </a:rPr>
              <a:t>Цифровая кафедра МФТИ | Программирование на Python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00800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0">
                <a:solidFill>
                  <a:srgbClr val="52616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Calibri Light"/>
              </a:rPr>
              <a:t>Бизнес-логика: подбор FPGA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97840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Calibri"/>
              </a:rPr>
              <a:t>Алгоритм сначала фильтрует устройства, затем ранжирует подходящие варианты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1143000" cy="3657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50292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755648"/>
            <a:ext cx="173736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1">
                <a:solidFill>
                  <a:srgbClr val="1A2330"/>
                </a:solidFill>
                <a:latin typeface="Calibri"/>
              </a:rPr>
              <a:t>Проверить
ограничения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029968"/>
            <a:ext cx="365760" cy="0"/>
          </a:xfrm>
          <a:prstGeom prst="line">
            <a:avLst/>
          </a:prstGeom>
          <a:ln w="25400">
            <a:solidFill>
              <a:srgbClr val="52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566160" y="1783080"/>
            <a:ext cx="502920" cy="502920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901952"/>
            <a:ext cx="50292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1755648"/>
            <a:ext cx="173736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1">
                <a:solidFill>
                  <a:srgbClr val="1A2330"/>
                </a:solidFill>
                <a:latin typeface="Calibri"/>
              </a:rPr>
              <a:t>Рассчитать
запасы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06440" y="2029968"/>
            <a:ext cx="365760" cy="0"/>
          </a:xfrm>
          <a:prstGeom prst="line">
            <a:avLst/>
          </a:prstGeom>
          <a:ln w="25400">
            <a:solidFill>
              <a:srgbClr val="52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355079" y="1783080"/>
            <a:ext cx="502920" cy="50292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79" y="1901952"/>
            <a:ext cx="50292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7" y="1755648"/>
            <a:ext cx="173736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1">
                <a:solidFill>
                  <a:srgbClr val="1A2330"/>
                </a:solidFill>
                <a:latin typeface="Calibri"/>
              </a:rPr>
              <a:t>Вернуть
score и причины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23774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Calibri"/>
              </a:rPr>
              <a:t>Фильтр требований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37560"/>
            <a:ext cx="4663440" cy="150876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483864"/>
            <a:ext cx="4343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nsolas"/>
              </a:rPr>
              <a:t>tid_krad &gt;= required_tid_krad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712464"/>
            <a:ext cx="4343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nsolas"/>
              </a:rPr>
              <a:t>logic_cells &gt;= min_logic_cells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941064"/>
            <a:ext cx="4343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nsolas"/>
              </a:rPr>
              <a:t>max_power_w &lt;= max_power_w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169664"/>
            <a:ext cx="4343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nsolas"/>
              </a:rPr>
              <a:t>temp_min &lt;= mission_temp_min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398264"/>
            <a:ext cx="4343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nsolas"/>
              </a:rPr>
              <a:t>temp_max &gt;= mission_temp_max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971800"/>
            <a:ext cx="23774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Calibri"/>
              </a:rPr>
              <a:t>Оценка результата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3401568"/>
            <a:ext cx="11430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0">
                <a:solidFill>
                  <a:srgbClr val="1A2330"/>
                </a:solidFill>
                <a:latin typeface="Calibri"/>
              </a:rPr>
              <a:t>База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3419856"/>
            <a:ext cx="3048000" cy="128016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78440" y="3383280"/>
            <a:ext cx="365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1050" b="0">
                <a:solidFill>
                  <a:srgbClr val="52616B"/>
                </a:solidFill>
                <a:latin typeface="Calibri"/>
              </a:rPr>
              <a:t>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3657600"/>
            <a:ext cx="11430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0">
                <a:solidFill>
                  <a:srgbClr val="1A2330"/>
                </a:solidFill>
                <a:latin typeface="Calibri"/>
              </a:rPr>
              <a:t>TID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3675887"/>
            <a:ext cx="1524000" cy="128016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78440" y="3639312"/>
            <a:ext cx="365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1050" b="0">
                <a:solidFill>
                  <a:srgbClr val="52616B"/>
                </a:solidFill>
                <a:latin typeface="Calibri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6752" y="3913632"/>
            <a:ext cx="11430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0">
                <a:solidFill>
                  <a:srgbClr val="1A2330"/>
                </a:solidFill>
                <a:latin typeface="Calibri"/>
              </a:rPr>
              <a:t>Логика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3931920"/>
            <a:ext cx="1143000" cy="128016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78440" y="3895344"/>
            <a:ext cx="365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1050" b="0">
                <a:solidFill>
                  <a:srgbClr val="52616B"/>
                </a:solidFill>
                <a:latin typeface="Calibri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4169664"/>
            <a:ext cx="11430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0">
                <a:solidFill>
                  <a:srgbClr val="1A2330"/>
                </a:solidFill>
                <a:latin typeface="Calibri"/>
              </a:rPr>
              <a:t>Мощность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4187952"/>
            <a:ext cx="1143000" cy="128016"/>
          </a:xfrm>
          <a:prstGeom prst="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78440" y="4151376"/>
            <a:ext cx="365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1050" b="0">
                <a:solidFill>
                  <a:srgbClr val="52616B"/>
                </a:solidFill>
                <a:latin typeface="Calibri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16752" y="4425696"/>
            <a:ext cx="11430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0">
                <a:solidFill>
                  <a:srgbClr val="1A2330"/>
                </a:solidFill>
                <a:latin typeface="Calibri"/>
              </a:rPr>
              <a:t>Температура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78040" y="4443983"/>
            <a:ext cx="381000" cy="12801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78440" y="4407408"/>
            <a:ext cx="365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1050" b="0">
                <a:solidFill>
                  <a:srgbClr val="52616B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752" y="4681728"/>
            <a:ext cx="11430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0">
                <a:solidFill>
                  <a:srgbClr val="1A2330"/>
                </a:solidFill>
                <a:latin typeface="Calibri"/>
              </a:rPr>
              <a:t>Space grade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4700016"/>
            <a:ext cx="381000" cy="128016"/>
          </a:xfrm>
          <a:prstGeom prst="rect">
            <a:avLst/>
          </a:prstGeom>
          <a:solidFill>
            <a:srgbClr val="2FB344"/>
          </a:solidFill>
          <a:ln>
            <a:solidFill>
              <a:srgbClr val="2FB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78440" y="4663440"/>
            <a:ext cx="365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1050" b="0">
                <a:solidFill>
                  <a:srgbClr val="52616B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6752" y="5166360"/>
            <a:ext cx="466344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0">
                <a:solidFill>
                  <a:srgbClr val="52616B"/>
                </a:solidFill>
                <a:latin typeface="Calibri"/>
              </a:rPr>
              <a:t>Итог: список устройств сортируется по убыванию score, а ответ содержит причины выбора.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37376"/>
            <a:ext cx="53035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52616B"/>
                </a:solidFill>
                <a:latin typeface="Calibri"/>
              </a:rPr>
              <a:t>Цифровая кафедра МФТИ | Программирование на Python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00800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0">
                <a:solidFill>
                  <a:srgbClr val="52616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Calibri Light"/>
              </a:rPr>
              <a:t>Демонстрация результата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97840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Calibri"/>
              </a:rPr>
              <a:t>Работу сервиса можно показать через Swagger/OpenAPI без отдельного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1143000" cy="3657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wagger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6903720" cy="4314825"/>
          </a:xfrm>
          <a:prstGeom prst="rect">
            <a:avLst/>
          </a:prstGeom>
          <a:ln>
            <a:solidFill>
              <a:srgbClr val="CA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001000" y="1481328"/>
            <a:ext cx="256032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Calibri"/>
              </a:rPr>
              <a:t>Что показать в видео</a:t>
            </a:r>
          </a:p>
        </p:txBody>
      </p:sp>
      <p:sp>
        <p:nvSpPr>
          <p:cNvPr id="7" name="Oval 6"/>
          <p:cNvSpPr/>
          <p:nvPr/>
        </p:nvSpPr>
        <p:spPr>
          <a:xfrm>
            <a:off x="8028431" y="2240280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3023" y="2130551"/>
            <a:ext cx="3310127" cy="50291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50" b="0">
                <a:solidFill>
                  <a:srgbClr val="1A2330"/>
                </a:solidFill>
                <a:latin typeface="Calibri"/>
              </a:rPr>
              <a:t>GET / — проверка запуска сервиса.</a:t>
            </a:r>
          </a:p>
        </p:txBody>
      </p:sp>
      <p:sp>
        <p:nvSpPr>
          <p:cNvPr id="9" name="Oval 8"/>
          <p:cNvSpPr/>
          <p:nvPr/>
        </p:nvSpPr>
        <p:spPr>
          <a:xfrm>
            <a:off x="8028431" y="2715766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93023" y="2606038"/>
            <a:ext cx="3310127" cy="50291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50" b="0" dirty="0">
                <a:solidFill>
                  <a:srgbClr val="1A2330"/>
                </a:solidFill>
                <a:latin typeface="Calibri"/>
              </a:rPr>
              <a:t>POST /auth/login — </a:t>
            </a:r>
            <a:r>
              <a:rPr sz="1550" b="0" dirty="0" err="1">
                <a:solidFill>
                  <a:srgbClr val="1A2330"/>
                </a:solidFill>
                <a:latin typeface="Calibri"/>
              </a:rPr>
              <a:t>получение</a:t>
            </a:r>
            <a:r>
              <a:rPr sz="1550" b="0" dirty="0">
                <a:solidFill>
                  <a:srgbClr val="1A2330"/>
                </a:solidFill>
                <a:latin typeface="Calibri"/>
              </a:rPr>
              <a:t> JWT-</a:t>
            </a:r>
            <a:r>
              <a:rPr sz="1550" b="0" dirty="0" err="1">
                <a:solidFill>
                  <a:srgbClr val="1A2330"/>
                </a:solidFill>
                <a:latin typeface="Calibri"/>
              </a:rPr>
              <a:t>токена</a:t>
            </a:r>
            <a:r>
              <a:rPr sz="1550" b="0" dirty="0">
                <a:solidFill>
                  <a:srgbClr val="1A2330"/>
                </a:solidFill>
                <a:latin typeface="Calibri"/>
              </a:rPr>
              <a:t> demo@example.com.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3291842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3" y="3182114"/>
            <a:ext cx="3310127" cy="50291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50" b="0" dirty="0">
                <a:solidFill>
                  <a:srgbClr val="1A2330"/>
                </a:solidFill>
                <a:latin typeface="Calibri"/>
              </a:rPr>
              <a:t>GET /</a:t>
            </a:r>
            <a:r>
              <a:rPr sz="1550" b="0" dirty="0" err="1">
                <a:solidFill>
                  <a:srgbClr val="1A2330"/>
                </a:solidFill>
                <a:latin typeface="Calibri"/>
              </a:rPr>
              <a:t>fpga</a:t>
            </a:r>
            <a:r>
              <a:rPr sz="1550" b="0" dirty="0">
                <a:solidFill>
                  <a:srgbClr val="1A2330"/>
                </a:solidFill>
                <a:latin typeface="Calibri"/>
              </a:rPr>
              <a:t>-devices/ — </a:t>
            </a:r>
            <a:r>
              <a:rPr sz="1550" b="0" dirty="0" err="1">
                <a:solidFill>
                  <a:srgbClr val="1A2330"/>
                </a:solidFill>
                <a:latin typeface="Calibri"/>
              </a:rPr>
              <a:t>каталог</a:t>
            </a:r>
            <a:r>
              <a:rPr sz="15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1A2330"/>
                </a:solidFill>
                <a:latin typeface="Calibri"/>
              </a:rPr>
              <a:t>устройств</a:t>
            </a:r>
            <a:r>
              <a:rPr sz="1550" b="0" dirty="0">
                <a:solidFill>
                  <a:srgbClr val="1A2330"/>
                </a:solidFill>
                <a:latin typeface="Calibri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8028431" y="3840477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93023" y="3730749"/>
            <a:ext cx="3310127" cy="50291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50" b="0" dirty="0">
                <a:solidFill>
                  <a:srgbClr val="1A2330"/>
                </a:solidFill>
                <a:latin typeface="Calibri"/>
              </a:rPr>
              <a:t>POST /recommendations/ — </a:t>
            </a:r>
            <a:r>
              <a:rPr sz="1550" b="0" dirty="0" err="1">
                <a:solidFill>
                  <a:srgbClr val="1A2330"/>
                </a:solidFill>
                <a:latin typeface="Calibri"/>
              </a:rPr>
              <a:t>подбор</a:t>
            </a:r>
            <a:r>
              <a:rPr sz="15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1A2330"/>
                </a:solidFill>
                <a:latin typeface="Calibri"/>
              </a:rPr>
              <a:t>по</a:t>
            </a:r>
            <a:r>
              <a:rPr sz="15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1A2330"/>
                </a:solidFill>
                <a:latin typeface="Calibri"/>
              </a:rPr>
              <a:t>требованиям</a:t>
            </a:r>
            <a:r>
              <a:rPr sz="15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1A2330"/>
                </a:solidFill>
                <a:latin typeface="Calibri"/>
              </a:rPr>
              <a:t>миссии</a:t>
            </a:r>
            <a:r>
              <a:rPr sz="1550" b="0" dirty="0">
                <a:solidFill>
                  <a:srgbClr val="1A2330"/>
                </a:solidFill>
                <a:latin typeface="Calibri"/>
              </a:rPr>
              <a:t>.</a:t>
            </a:r>
          </a:p>
        </p:txBody>
      </p:sp>
      <p:sp>
        <p:nvSpPr>
          <p:cNvPr id="15" name="Oval 14"/>
          <p:cNvSpPr/>
          <p:nvPr/>
        </p:nvSpPr>
        <p:spPr>
          <a:xfrm>
            <a:off x="8065008" y="4425698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4315969"/>
            <a:ext cx="3310127" cy="50291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50" b="0" dirty="0">
                <a:solidFill>
                  <a:srgbClr val="1A2330"/>
                </a:solidFill>
                <a:latin typeface="Calibri"/>
              </a:rPr>
              <a:t>GET /auth/me и GET /missions/ — </a:t>
            </a:r>
            <a:r>
              <a:rPr sz="1550" b="0" dirty="0" err="1">
                <a:solidFill>
                  <a:srgbClr val="1A2330"/>
                </a:solidFill>
                <a:latin typeface="Calibri"/>
              </a:rPr>
              <a:t>защищенные</a:t>
            </a:r>
            <a:r>
              <a:rPr sz="1550" b="0" dirty="0">
                <a:solidFill>
                  <a:srgbClr val="1A2330"/>
                </a:solidFill>
                <a:latin typeface="Calibri"/>
              </a:rPr>
              <a:t> endpoints.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5029200"/>
            <a:ext cx="3337560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 dirty="0" err="1">
                <a:solidFill>
                  <a:srgbClr val="E76F51"/>
                </a:solidFill>
                <a:latin typeface="Calibri"/>
              </a:rPr>
              <a:t>Пример</a:t>
            </a:r>
            <a:r>
              <a:rPr sz="16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E76F51"/>
                </a:solidFill>
                <a:latin typeface="Calibri"/>
              </a:rPr>
              <a:t>результата</a:t>
            </a:r>
            <a:r>
              <a:rPr sz="1600" b="1" dirty="0">
                <a:solidFill>
                  <a:srgbClr val="E76F51"/>
                </a:solidFill>
                <a:latin typeface="Calibri"/>
              </a:rPr>
              <a:t>: RTG4 </a:t>
            </a:r>
            <a:r>
              <a:rPr sz="1600" b="1" dirty="0" err="1">
                <a:solidFill>
                  <a:srgbClr val="E76F51"/>
                </a:solidFill>
                <a:latin typeface="Calibri"/>
              </a:rPr>
              <a:t>получает</a:t>
            </a:r>
            <a:r>
              <a:rPr sz="1600" b="1" dirty="0">
                <a:solidFill>
                  <a:srgbClr val="E76F51"/>
                </a:solidFill>
                <a:latin typeface="Calibri"/>
              </a:rPr>
              <a:t> score 80.44 </a:t>
            </a:r>
            <a:r>
              <a:rPr sz="1600" b="1" dirty="0" err="1">
                <a:solidFill>
                  <a:srgbClr val="E76F51"/>
                </a:solidFill>
                <a:latin typeface="Calibri"/>
              </a:rPr>
              <a:t>при</a:t>
            </a:r>
            <a:r>
              <a:rPr sz="16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E76F51"/>
                </a:solidFill>
                <a:latin typeface="Calibri"/>
              </a:rPr>
              <a:t>требованиях</a:t>
            </a:r>
            <a:r>
              <a:rPr sz="1600" b="1" dirty="0">
                <a:solidFill>
                  <a:srgbClr val="E76F51"/>
                </a:solidFill>
                <a:latin typeface="Calibri"/>
              </a:rPr>
              <a:t> 50 </a:t>
            </a:r>
            <a:r>
              <a:rPr sz="1600" b="1" dirty="0" err="1">
                <a:solidFill>
                  <a:srgbClr val="E76F51"/>
                </a:solidFill>
                <a:latin typeface="Calibri"/>
              </a:rPr>
              <a:t>krad</a:t>
            </a:r>
            <a:r>
              <a:rPr sz="1600" b="1" dirty="0">
                <a:solidFill>
                  <a:srgbClr val="E76F51"/>
                </a:solidFill>
                <a:latin typeface="Calibri"/>
              </a:rPr>
              <a:t>, 100000 logic cells и 8 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53035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52616B"/>
                </a:solidFill>
                <a:latin typeface="Calibri"/>
              </a:rPr>
              <a:t>Цифровая кафедра МФТИ | Программирование на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00800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0">
                <a:solidFill>
                  <a:srgbClr val="52616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Calibri Light"/>
              </a:rPr>
              <a:t>Сложности и качество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97840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Calibri"/>
              </a:rPr>
              <a:t>Основные риски были связаны с авторизацией, связями данных и проверяемостью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1143000" cy="3657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536192"/>
            <a:ext cx="47091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A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1874519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50" b="1">
                <a:solidFill>
                  <a:srgbClr val="102A43"/>
                </a:solidFill>
                <a:latin typeface="Calibri"/>
              </a:rPr>
              <a:t>Валидация температур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1625997"/>
            <a:ext cx="2578608" cy="64171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50" b="0" dirty="0" err="1">
                <a:solidFill>
                  <a:srgbClr val="1A2330"/>
                </a:solidFill>
                <a:latin typeface="Calibri"/>
              </a:rPr>
              <a:t>Pydantic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model_validator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и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дополнительные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проверки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при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86584"/>
            <a:ext cx="47091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A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1874519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50" b="1">
                <a:solidFill>
                  <a:srgbClr val="102A43"/>
                </a:solidFill>
                <a:latin typeface="Calibri"/>
              </a:rPr>
              <a:t>Доступ к миссиям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514600"/>
            <a:ext cx="268986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50" b="0" dirty="0" err="1">
                <a:solidFill>
                  <a:srgbClr val="1A2330"/>
                </a:solidFill>
                <a:latin typeface="Calibri"/>
              </a:rPr>
              <a:t>Проверка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owner_id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: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пользователь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видит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только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свои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миссии</a:t>
            </a:r>
            <a:endParaRPr sz="1350" b="0" dirty="0">
              <a:solidFill>
                <a:srgbClr val="1A2330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3236976"/>
            <a:ext cx="47091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A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92424"/>
            <a:ext cx="1874519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50" b="1">
                <a:solidFill>
                  <a:srgbClr val="102A43"/>
                </a:solidFill>
                <a:latin typeface="Calibri"/>
              </a:rPr>
              <a:t>Повторяемые тесты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364992"/>
            <a:ext cx="243840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50" b="0" dirty="0" err="1">
                <a:solidFill>
                  <a:srgbClr val="1A2330"/>
                </a:solidFill>
                <a:latin typeface="Calibri"/>
              </a:rPr>
              <a:t>TestClient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+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отдельная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in-memory SQLite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база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для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каждого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теста</a:t>
            </a:r>
            <a:endParaRPr sz="1350" b="0" dirty="0">
              <a:solidFill>
                <a:srgbClr val="1A2330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4087368"/>
            <a:ext cx="47091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A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242816"/>
            <a:ext cx="1874519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50" b="1">
                <a:solidFill>
                  <a:srgbClr val="102A43"/>
                </a:solidFill>
                <a:latin typeface="Calibri"/>
              </a:rPr>
              <a:t>Качество кода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215382"/>
            <a:ext cx="234696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50" b="0" dirty="0">
                <a:solidFill>
                  <a:srgbClr val="1A2330"/>
                </a:solidFill>
                <a:latin typeface="Calibri"/>
              </a:rPr>
              <a:t>pylint.txt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сохранен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в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корне</a:t>
            </a:r>
            <a:r>
              <a:rPr sz="1350" b="0" dirty="0">
                <a:solidFill>
                  <a:srgbClr val="1A2330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2330"/>
                </a:solidFill>
                <a:latin typeface="Calibri"/>
              </a:rPr>
              <a:t>репозитория</a:t>
            </a:r>
            <a:endParaRPr sz="1350" b="0" dirty="0">
              <a:solidFill>
                <a:srgbClr val="1A2330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1874519"/>
            <a:ext cx="128016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>
                <a:solidFill>
                  <a:srgbClr val="1B998B"/>
                </a:solidFill>
                <a:latin typeface="Calibri"/>
              </a:rPr>
              <a:t>pytest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240280"/>
            <a:ext cx="128016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Calibri"/>
              </a:rPr>
              <a:t>3 passed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69164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79992" y="1874519"/>
            <a:ext cx="128016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>
                <a:solidFill>
                  <a:srgbClr val="E76F51"/>
                </a:solidFill>
                <a:latin typeface="Calibri"/>
              </a:rPr>
              <a:t>pylint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2240280"/>
            <a:ext cx="137160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Calibri"/>
              </a:rPr>
              <a:t>10.00/10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23774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Calibri"/>
              </a:rPr>
              <a:t>Проверенные сценарии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4590288"/>
            <a:ext cx="82296" cy="82296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79" y="4480560"/>
            <a:ext cx="4041648" cy="466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регистрация, вход и /auth/me;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4983480"/>
            <a:ext cx="82296" cy="82296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79" y="4873752"/>
            <a:ext cx="4041648" cy="466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CRUD для производителя и FPGA-устройства;</a:t>
            </a:r>
          </a:p>
        </p:txBody>
      </p:sp>
      <p:sp>
        <p:nvSpPr>
          <p:cNvPr id="28" name="Oval 27"/>
          <p:cNvSpPr/>
          <p:nvPr/>
        </p:nvSpPr>
        <p:spPr>
          <a:xfrm>
            <a:off x="6419088" y="5376672"/>
            <a:ext cx="82296" cy="82296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79" y="5266944"/>
            <a:ext cx="4041648" cy="466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создание миссии и работа алгоритма рекомендаций.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37376"/>
            <a:ext cx="53035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52616B"/>
                </a:solidFill>
                <a:latin typeface="Calibri"/>
              </a:rPr>
              <a:t>Цифровая кафедра МФТИ | Программирование на Python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00800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0">
                <a:solidFill>
                  <a:srgbClr val="52616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Calibri Light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97840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Calibri"/>
              </a:rPr>
              <a:t>Проект показывает полный цикл разработки небольшого backend-сервиса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1143000" cy="3657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201168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Calibri"/>
              </a:rPr>
              <a:t>Реализовано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984248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874519"/>
            <a:ext cx="5047488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600">
                <a:solidFill>
                  <a:srgbClr val="1A2330"/>
                </a:solidFill>
                <a:latin typeface="Calibri"/>
              </a:rPr>
              <a:t>FastAPI REST-сервис и Swagger.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414015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2441448"/>
            <a:ext cx="5047488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600">
                <a:solidFill>
                  <a:srgbClr val="1A2330"/>
                </a:solidFill>
                <a:latin typeface="Calibri"/>
              </a:rPr>
              <a:t>SQLite: 4 таблицы и связи.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843784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3008376"/>
            <a:ext cx="5047488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600">
                <a:solidFill>
                  <a:srgbClr val="1A2330"/>
                </a:solidFill>
                <a:latin typeface="Calibri"/>
              </a:rPr>
              <a:t>JWT и защищенные endpoints.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273552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3575304"/>
            <a:ext cx="5047488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600">
                <a:solidFill>
                  <a:srgbClr val="1A2330"/>
                </a:solidFill>
                <a:latin typeface="Calibri"/>
              </a:rPr>
              <a:t>CRUD + алгоритм рекомендаций.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703320"/>
            <a:ext cx="82296" cy="82296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4142232"/>
            <a:ext cx="5047488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600">
                <a:solidFill>
                  <a:srgbClr val="1A2330"/>
                </a:solidFill>
                <a:latin typeface="Calibri"/>
              </a:rPr>
              <a:t>TestClient и pylint.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283464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Calibri"/>
              </a:rPr>
              <a:t>Показанные компетенции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874519"/>
            <a:ext cx="1828800" cy="347472"/>
          </a:xfrm>
          <a:prstGeom prst="roundRect">
            <a:avLst>
              <a:gd name="adj" fmla="val 1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1943100"/>
            <a:ext cx="1737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874519"/>
            <a:ext cx="1828800" cy="347472"/>
          </a:xfrm>
          <a:prstGeom prst="roundRect">
            <a:avLst>
              <a:gd name="adj" fmla="val 18000"/>
            </a:avLst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1943100"/>
            <a:ext cx="1737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Базы данных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624327"/>
            <a:ext cx="1828800" cy="347472"/>
          </a:xfrm>
          <a:prstGeom prst="roundRect">
            <a:avLst>
              <a:gd name="adj" fmla="val 18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59" y="2692908"/>
            <a:ext cx="1737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Авторизация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2624327"/>
            <a:ext cx="1828800" cy="347472"/>
          </a:xfrm>
          <a:prstGeom prst="roundRect">
            <a:avLst>
              <a:gd name="adj" fmla="val 18000"/>
            </a:avLst>
          </a:prstGeom>
          <a:solidFill>
            <a:srgbClr val="2FB344"/>
          </a:solidFill>
          <a:ln>
            <a:solidFill>
              <a:srgbClr val="2FB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0" y="2692908"/>
            <a:ext cx="1737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Валидация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374135"/>
            <a:ext cx="1828800" cy="347472"/>
          </a:xfrm>
          <a:prstGeom prst="roundRect">
            <a:avLst>
              <a:gd name="adj" fmla="val 1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59" y="3442715"/>
            <a:ext cx="1737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Тестирование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3374135"/>
            <a:ext cx="1828800" cy="347472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0" y="3442715"/>
            <a:ext cx="1737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Качество кода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617720"/>
            <a:ext cx="429768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Calibri"/>
              </a:rPr>
              <a:t>Дальнейшее развитие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138928"/>
            <a:ext cx="4480560" cy="8686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00" b="0">
                <a:solidFill>
                  <a:srgbClr val="52616B"/>
                </a:solidFill>
                <a:latin typeface="Calibri"/>
              </a:rPr>
              <a:t>Можно добавить роли пользователей, расширенный каталог компонентов, импорт реальных даташитов и более сложную модель оценки надежности.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37376"/>
            <a:ext cx="53035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52616B"/>
                </a:solidFill>
                <a:latin typeface="Calibri"/>
              </a:rPr>
              <a:t>Цифровая кафедра МФТИ | Программирование на Python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00800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0">
                <a:solidFill>
                  <a:srgbClr val="5261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8F9F-508C-69B1-E303-883C47C17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Спасибо вам за ваше внимание!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54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1484</Words>
  <Application>Microsoft Office PowerPoint</Application>
  <PresentationFormat>Widescreen</PresentationFormat>
  <Paragraphs>202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Спасибо вам за ваше внимание!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Reza Aliasgari Renani</cp:lastModifiedBy>
  <cp:revision>6</cp:revision>
  <dcterms:created xsi:type="dcterms:W3CDTF">2013-01-27T09:14:16Z</dcterms:created>
  <dcterms:modified xsi:type="dcterms:W3CDTF">2026-05-29T12:12:23Z</dcterms:modified>
  <cp:category/>
</cp:coreProperties>
</file>